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74" r:id="rId26"/>
    <p:sldId id="275" r:id="rId27"/>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12.xml"/><Relationship Id="rId27"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and faculty members. Welcome to our Semester 5 project review. Our project is 'InfluenceAI' — an AI-powered social media influencer recommendation system. Presented by Yashvi, Shivansh, and Astha, guided by Ms. Neeta Chudasama.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articulate the core motivation. Finding influencers is easy, but finding the right influencer who genuinely matches a specific campaign goal, audience niche, and budget is an unsolved challenge. Traditional tools only filter by subscriber counts. InfluenceAI introduces deep semantic matching.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six technical innovations set InfluenceAI apart. Notice how we balance both the brand's need for semantic matching and the creator's need for direct collaboration, backed by a mathematical ranking formula.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complete architecture. Notice the polyglot storage design: MongoDB acts as our raw data lake, while Supabase PostgreSQL serves as the relational operational database and vector store. FastAPI executes the heavy ML tensor computations, and React provides an interactive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requirement was explaining how Supabase works. Supabase is not just a database; it is our unified Auth provider, PostgreSQL relational engine, and vector storage layer. We also leverage PostgreSQL Row Level Security (RLS) and public views for privacy protection.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can see the schema diagram. Notice how Users connects to Brand Profile and Campaigns. We also have registered_channels and ml_data.channels in Supabase to bridge YouTube data with ML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ingestion pipeline processes two distinct tiers: channel-level metadata and video-level metrics. We enforce a strict 15-video window per creator to ensure our metrics reflect current performance while keeping database storage lean and responsive.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Recommendation starts with Step 1: Candidate Filtering. We eliminate non-viable candidates before ML ranking. This ensures category alignment, geographic relevance, and budget eligibility. If no budget is specified, all tiers remain open for ranking.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is our semantic matching engine. We use Sentence-BERT MiniLM-L6-v2. It transforms the campaign description into a 384-dimensional vector and performs cosine similarity against each creator's content vector. This captures true contextual meaning rather than dumb keyword matching.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Step 3, we evaluate audience engagement. Raw engagement rate is calculated from likes and comments divided by views. To prevent clickbait outliers from dominating the rankings, we apply robust 5th-to-95th percentile clipping.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exact scoring equation. The baseline formulation is 70% semantic relevance and 30% engagement score. The weights adapt based on the campaign goal: whether the brand seeks maximum reach (Awareness), interaction (Engagement), or sales (Conversions).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our implementation of Phase 3 and Phase 4. Creators can register their channels, and our background task generates their embeddings so they can be recommended immediately. When recommendations are generated, a single batched SQL query attaches verified emails with Zero N+1 latency.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depicts the brand user journey. From registration to creating a campaign and viewing recommendations. The campaign description entered in Step 4 is what drives the SBERT vector matching in the backend.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live application screens designed in Figma and implemented in React 19 and Material-UI. The interface is clean, professional, and built for both brand marketing teams and creators.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Explainability is paramount in modern AI systems. Brands do not trust a system that just outputs names. InfluenceAI breaks down every recommendation into semantic match score, engagement index, estimated collab cost, and direct contact options.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individual contribution breakdown. Yashvi led data engineering and the YouTube ingestion pipeline; Shivansh led the UI/UX design and Sentence-BERT NLP engine; and Astha spearheaded Supabase PostgreSQL, JWT security, and registered channel mapping.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where the project stands today versus what comes next. Our end-to-end prototype is fully functional with live recommendations and real data. Next semester, we will expand into graph network analytics and Google OAuth creator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respected faculty and committee members. That concludes our presentation. We are now ready for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731520"/>
            <a:ext cx="10332720" cy="457200"/>
          </a:xfrm>
          <a:prstGeom prst="rect">
            <a:avLst/>
          </a:prstGeom>
          <a:noFill/>
        </p:spPr>
        <p:txBody>
          <a:bodyPr wrap="none">
            <a:spAutoFit/>
          </a:bodyPr>
          <a:lstStyle/>
          <a:p>
            <a:pPr>
              <a:defRPr sz="1100" b="1">
                <a:solidFill>
                  <a:srgbClr val="94A3B8"/>
                </a:solidFill>
              </a:defRPr>
            </a:pPr>
            <a:r>
              <a:t>CHARUSAT  ·  DEPSTAR  ·  DEPARTMENT OF INFORMATION TECHNOLOGY</a:t>
            </a:r>
          </a:p>
        </p:txBody>
      </p:sp>
      <p:sp>
        <p:nvSpPr>
          <p:cNvPr id="3" name="TextBox 2"/>
          <p:cNvSpPr txBox="1"/>
          <p:nvPr/>
        </p:nvSpPr>
        <p:spPr>
          <a:xfrm>
            <a:off x="914400" y="1097280"/>
            <a:ext cx="10332720" cy="365760"/>
          </a:xfrm>
          <a:prstGeom prst="rect">
            <a:avLst/>
          </a:prstGeom>
          <a:noFill/>
        </p:spPr>
        <p:txBody>
          <a:bodyPr wrap="none">
            <a:spAutoFit/>
          </a:bodyPr>
          <a:lstStyle/>
          <a:p>
            <a:pPr>
              <a:defRPr sz="1200">
                <a:solidFill>
                  <a:srgbClr val="4F46E5"/>
                </a:solidFill>
              </a:defRPr>
            </a:pPr>
            <a:r>
              <a:t>Project ID: PRJ_IT_5_2026_25  |  Semester 5 Project Review</a:t>
            </a:r>
          </a:p>
        </p:txBody>
      </p:sp>
      <p:sp>
        <p:nvSpPr>
          <p:cNvPr id="4" name="TextBox 3"/>
          <p:cNvSpPr txBox="1"/>
          <p:nvPr/>
        </p:nvSpPr>
        <p:spPr>
          <a:xfrm>
            <a:off x="914400" y="1645920"/>
            <a:ext cx="10332720" cy="2011680"/>
          </a:xfrm>
          <a:prstGeom prst="rect">
            <a:avLst/>
          </a:prstGeom>
          <a:noFill/>
        </p:spPr>
        <p:txBody>
          <a:bodyPr wrap="square">
            <a:spAutoFit/>
          </a:bodyPr>
          <a:lstStyle/>
          <a:p>
            <a:pPr>
              <a:defRPr sz="3600" b="1">
                <a:solidFill>
                  <a:srgbClr val="FFFFFF"/>
                </a:solidFill>
              </a:defRPr>
            </a:pPr>
            <a:r>
              <a:t>AI-Powered Social Media</a:t>
            </a:r>
            <a:br/>
            <a:r>
              <a:t>Influencer Recommendation System</a:t>
            </a:r>
          </a:p>
        </p:txBody>
      </p:sp>
      <p:sp>
        <p:nvSpPr>
          <p:cNvPr id="5" name="TextBox 4"/>
          <p:cNvSpPr txBox="1"/>
          <p:nvPr/>
        </p:nvSpPr>
        <p:spPr>
          <a:xfrm>
            <a:off x="914400" y="3749039"/>
            <a:ext cx="10332720" cy="731520"/>
          </a:xfrm>
          <a:prstGeom prst="rect">
            <a:avLst/>
          </a:prstGeom>
          <a:noFill/>
        </p:spPr>
        <p:txBody>
          <a:bodyPr wrap="none">
            <a:spAutoFit/>
          </a:bodyPr>
          <a:lstStyle/>
          <a:p>
            <a:pPr>
              <a:defRPr sz="1500">
                <a:solidFill>
                  <a:srgbClr val="CBD5E1"/>
                </a:solidFill>
              </a:defRPr>
            </a:pPr>
            <a:r>
              <a:t>Intelligent Multi-Factor Matching, Sentence-BERT Semantic Search, Polyglot Database Architecture &amp; Explainable Creator Discovery</a:t>
            </a:r>
          </a:p>
        </p:txBody>
      </p:sp>
      <p:sp>
        <p:nvSpPr>
          <p:cNvPr id="6" name="Rounded Rectangle 5"/>
          <p:cNvSpPr/>
          <p:nvPr/>
        </p:nvSpPr>
        <p:spPr>
          <a:xfrm>
            <a:off x="914400" y="4754880"/>
            <a:ext cx="594360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846320"/>
            <a:ext cx="5577840" cy="1280160"/>
          </a:xfrm>
          <a:prstGeom prst="rect">
            <a:avLst/>
          </a:prstGeom>
          <a:noFill/>
        </p:spPr>
        <p:txBody>
          <a:bodyPr wrap="none">
            <a:spAutoFit/>
          </a:bodyPr>
          <a:lstStyle/>
          <a:p>
            <a:pPr>
              <a:defRPr sz="1000" b="1">
                <a:solidFill>
                  <a:srgbClr val="94A3B8"/>
                </a:solidFill>
              </a:defRPr>
            </a:pPr>
            <a:r>
              <a:t>STUDENT TEAM MEMBERS</a:t>
            </a:r>
          </a:p>
          <a:p>
            <a:pPr>
              <a:defRPr sz="1100">
                <a:solidFill>
                  <a:srgbClr val="FFFFFF"/>
                </a:solidFill>
              </a:defRPr>
            </a:pPr>
            <a:r>
              <a:t>•  24DIT004 — Yashvi Bhadani (Data Pipeline &amp; Ingestion)</a:t>
            </a:r>
          </a:p>
          <a:p>
            <a:pPr>
              <a:defRPr sz="1100">
                <a:solidFill>
                  <a:srgbClr val="FFFFFF"/>
                </a:solidFill>
              </a:defRPr>
            </a:pPr>
            <a:r>
              <a:t>•  24DIT014 — Shivansh (UI/UX &amp; NLP Semantic Engine)</a:t>
            </a:r>
          </a:p>
          <a:p>
            <a:pPr>
              <a:defRPr sz="1100">
                <a:solidFill>
                  <a:srgbClr val="FFFFFF"/>
                </a:solidFill>
              </a:defRPr>
            </a:pPr>
            <a:r>
              <a:t>•  24DIT030 — Astha Makwana (Supabase Database &amp; Authentication)</a:t>
            </a:r>
          </a:p>
        </p:txBody>
      </p:sp>
      <p:sp>
        <p:nvSpPr>
          <p:cNvPr id="8" name="Rounded Rectangle 7"/>
          <p:cNvSpPr/>
          <p:nvPr/>
        </p:nvSpPr>
        <p:spPr>
          <a:xfrm>
            <a:off x="7132320" y="4754880"/>
            <a:ext cx="4114800" cy="1463040"/>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4846320"/>
            <a:ext cx="3749039" cy="1280160"/>
          </a:xfrm>
          <a:prstGeom prst="rect">
            <a:avLst/>
          </a:prstGeom>
          <a:noFill/>
        </p:spPr>
        <p:txBody>
          <a:bodyPr wrap="none">
            <a:spAutoFit/>
          </a:bodyPr>
          <a:lstStyle/>
          <a:p>
            <a:pPr>
              <a:defRPr sz="1000" b="1">
                <a:solidFill>
                  <a:srgbClr val="94A3B8"/>
                </a:solidFill>
              </a:defRPr>
            </a:pPr>
            <a:r>
              <a:t>PROJECT MENTOR &amp; GUIDE</a:t>
            </a:r>
          </a:p>
          <a:p>
            <a:pPr>
              <a:defRPr sz="1500" b="1">
                <a:solidFill>
                  <a:srgbClr val="FFFFFF"/>
                </a:solidFill>
              </a:defRPr>
            </a:pPr>
            <a:r>
              <a:t>Ms. Neeta Chudasama</a:t>
            </a:r>
          </a:p>
          <a:p>
            <a:pPr>
              <a:defRPr sz="1100">
                <a:solidFill>
                  <a:srgbClr val="CBD5E1"/>
                </a:solidFill>
              </a:defRPr>
            </a:pPr>
            <a:r>
              <a:t>Assistant Professor, Dept. of Information Technology</a:t>
            </a:r>
            <a:br/>
            <a:r>
              <a:t>DEPSTAR, CHARUSAT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The Real-World Problem: Why Influencer Selection is Broken</a:t>
            </a:r>
          </a:p>
        </p:txBody>
      </p:sp>
      <p:sp>
        <p:nvSpPr>
          <p:cNvPr id="4" name="Rounded Rectangle 3"/>
          <p:cNvSpPr/>
          <p:nvPr/>
        </p:nvSpPr>
        <p:spPr>
          <a:xfrm>
            <a:off x="731520" y="146304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572000" cy="4389120"/>
          </a:xfrm>
          <a:prstGeom prst="rect">
            <a:avLst/>
          </a:prstGeom>
          <a:noFill/>
        </p:spPr>
        <p:txBody>
          <a:bodyPr wrap="square">
            <a:spAutoFit/>
          </a:bodyPr>
          <a:lstStyle/>
          <a:p>
            <a:pPr>
              <a:defRPr sz="1600" b="1">
                <a:solidFill>
                  <a:srgbClr val="DC2626"/>
                </a:solidFill>
              </a:defRPr>
            </a:pPr>
            <a:r>
              <a:t>Current Industry Bottlenecks</a:t>
            </a:r>
          </a:p>
          <a:p>
            <a:pPr>
              <a:defRPr sz="1200" b="1">
                <a:solidFill>
                  <a:srgbClr val="0F172A"/>
                </a:solidFill>
              </a:defRPr>
            </a:pPr>
            <a:r>
              <a:t>• Vanity Metrics Bias: </a:t>
            </a:r>
          </a:p>
          <a:p>
            <a:pPr>
              <a:defRPr sz="1100">
                <a:solidFill>
                  <a:srgbClr val="64748B"/>
                </a:solidFill>
              </a:defRPr>
            </a:pPr>
            <a:r>
              <a:t>   Brands blindly select creators by follower counts, ignoring true engagement rates, real views, and audience fit.</a:t>
            </a:r>
          </a:p>
          <a:p>
            <a:pPr>
              <a:defRPr sz="1200" b="1">
                <a:solidFill>
                  <a:srgbClr val="0F172A"/>
                </a:solidFill>
              </a:defRPr>
            </a:pPr>
            <a:r>
              <a:t>• No Semantic Content Match: </a:t>
            </a:r>
          </a:p>
          <a:p>
            <a:pPr>
              <a:defRPr sz="1100">
                <a:solidFill>
                  <a:srgbClr val="64748B"/>
                </a:solidFill>
              </a:defRPr>
            </a:pPr>
            <a:r>
              <a:t>   A fitness brand launching a 'plant-based keto protein' campaign is matched with bodybuilding gym channels rather than plant-based lifestyle creators.</a:t>
            </a:r>
          </a:p>
          <a:p>
            <a:pPr>
              <a:defRPr sz="1200" b="1">
                <a:solidFill>
                  <a:srgbClr val="0F172A"/>
                </a:solidFill>
              </a:defRPr>
            </a:pPr>
            <a:r>
              <a:t>• High Budget Inefficiencies: </a:t>
            </a:r>
          </a:p>
          <a:p>
            <a:pPr>
              <a:defRPr sz="1100">
                <a:solidFill>
                  <a:srgbClr val="64748B"/>
                </a:solidFill>
              </a:defRPr>
            </a:pPr>
            <a:r>
              <a:t>   Over 68% of marketing budget is squandered on mid/macro influencers whose actual target demographics don't match the campaign.</a:t>
            </a:r>
          </a:p>
          <a:p>
            <a:pPr>
              <a:defRPr sz="1200" b="1">
                <a:solidFill>
                  <a:srgbClr val="0F172A"/>
                </a:solidFill>
              </a:defRPr>
            </a:pPr>
            <a:r>
              <a:t>• Manual &amp; Unscalable Discovery: </a:t>
            </a:r>
          </a:p>
          <a:p>
            <a:pPr>
              <a:defRPr sz="1100">
                <a:solidFill>
                  <a:srgbClr val="64748B"/>
                </a:solidFill>
              </a:defRPr>
            </a:pPr>
            <a:r>
              <a:t>   Marketing agencies spend 15–25 hours per campaign manually scouring YouTube, scraping contact emails, and guessing creator collaboration rates.</a:t>
            </a:r>
          </a:p>
        </p:txBody>
      </p:sp>
      <p:sp>
        <p:nvSpPr>
          <p:cNvPr id="6" name="Rounded Rectangle 5"/>
          <p:cNvSpPr/>
          <p:nvPr/>
        </p:nvSpPr>
        <p:spPr>
          <a:xfrm>
            <a:off x="62179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389120"/>
          </a:xfrm>
          <a:prstGeom prst="rect">
            <a:avLst/>
          </a:prstGeom>
          <a:noFill/>
        </p:spPr>
        <p:txBody>
          <a:bodyPr wrap="square">
            <a:spAutoFit/>
          </a:bodyPr>
          <a:lstStyle/>
          <a:p>
            <a:pPr>
              <a:defRPr sz="1600" b="1">
                <a:solidFill>
                  <a:srgbClr val="4F46E5"/>
                </a:solidFill>
              </a:defRPr>
            </a:pPr>
            <a:r>
              <a:t>InfluenceAI's Solution Approach</a:t>
            </a:r>
          </a:p>
          <a:p>
            <a:pPr>
              <a:defRPr sz="1200" b="1">
                <a:solidFill>
                  <a:srgbClr val="0F172A"/>
                </a:solidFill>
              </a:defRPr>
            </a:pPr>
            <a:r>
              <a:t>✔ Multi-Dimensional Filtering: </a:t>
            </a:r>
          </a:p>
          <a:p>
            <a:pPr>
              <a:defRPr sz="1100">
                <a:solidFill>
                  <a:srgbClr val="64748B"/>
                </a:solidFill>
              </a:defRPr>
            </a:pPr>
            <a:r>
              <a:t>   Enforces hard boundaries: verified category, country/location, and creator pricing tier tailored to the brand's budget.</a:t>
            </a:r>
          </a:p>
          <a:p>
            <a:pPr>
              <a:defRPr sz="1200" b="1">
                <a:solidFill>
                  <a:srgbClr val="0F172A"/>
                </a:solidFill>
              </a:defRPr>
            </a:pPr>
            <a:r>
              <a:t>✔ Dense Semantic NLP Matching: </a:t>
            </a:r>
          </a:p>
          <a:p>
            <a:pPr>
              <a:defRPr sz="1100">
                <a:solidFill>
                  <a:srgbClr val="64748B"/>
                </a:solidFill>
              </a:defRPr>
            </a:pPr>
            <a:r>
              <a:t>   Uses Sentence-BERT (all-MiniLM-L6-v2) to map freeform campaign briefs against dense creator video content profiles.</a:t>
            </a:r>
          </a:p>
          <a:p>
            <a:pPr>
              <a:defRPr sz="1200" b="1">
                <a:solidFill>
                  <a:srgbClr val="0F172A"/>
                </a:solidFill>
              </a:defRPr>
            </a:pPr>
            <a:r>
              <a:t>✔ True Engagement Normalization: </a:t>
            </a:r>
          </a:p>
          <a:p>
            <a:pPr>
              <a:defRPr sz="1100">
                <a:solidFill>
                  <a:srgbClr val="64748B"/>
                </a:solidFill>
              </a:defRPr>
            </a:pPr>
            <a:r>
              <a:t>   Evaluates (Likes + Comments) / Views with 5th–95th percentile clipping to eliminate viral clickbait distortions.</a:t>
            </a:r>
          </a:p>
          <a:p>
            <a:pPr>
              <a:defRPr sz="1200" b="1">
                <a:solidFill>
                  <a:srgbClr val="0F172A"/>
                </a:solidFill>
              </a:defRPr>
            </a:pPr>
            <a:r>
              <a:t>✔ Transparent &amp; Explainable Scoring: </a:t>
            </a:r>
          </a:p>
          <a:p>
            <a:pPr>
              <a:defRPr sz="1100">
                <a:solidFill>
                  <a:srgbClr val="64748B"/>
                </a:solidFill>
              </a:defRPr>
            </a:pPr>
            <a:r>
              <a:t>   Every recommendation details its semantic match %, engagement score %, tier suitability, and direct contact email.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Project Objectives &amp; Technical Innovations</a:t>
            </a:r>
          </a:p>
        </p:txBody>
      </p:sp>
      <p:sp>
        <p:nvSpPr>
          <p:cNvPr id="4" name="Rounded Rectangle 3"/>
          <p:cNvSpPr/>
          <p:nvPr/>
        </p:nvSpPr>
        <p:spPr>
          <a:xfrm>
            <a:off x="731520" y="1463040"/>
            <a:ext cx="34290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63240" cy="1828800"/>
          </a:xfrm>
          <a:prstGeom prst="rect">
            <a:avLst/>
          </a:prstGeom>
          <a:noFill/>
        </p:spPr>
        <p:txBody>
          <a:bodyPr wrap="square">
            <a:spAutoFit/>
          </a:bodyPr>
          <a:lstStyle/>
          <a:p>
            <a:pPr>
              <a:defRPr sz="1300" b="1">
                <a:solidFill>
                  <a:srgbClr val="4F46E5"/>
                </a:solidFill>
              </a:defRPr>
            </a:pPr>
            <a:r>
              <a:t>1. Multi-Factor Constraint Engine</a:t>
            </a:r>
          </a:p>
          <a:p>
            <a:pPr>
              <a:defRPr sz="1100">
                <a:solidFill>
                  <a:srgbClr val="64748B"/>
                </a:solidFill>
              </a:defRPr>
            </a:pPr>
            <a:r>
              <a:t>Filters candidate channels across strict categorical niches, geographical location (India vs Global), and budget tier eligibility (Nano, Micro, Mid, Macro).</a:t>
            </a:r>
          </a:p>
        </p:txBody>
      </p:sp>
      <p:sp>
        <p:nvSpPr>
          <p:cNvPr id="6" name="Rounded Rectangle 5"/>
          <p:cNvSpPr/>
          <p:nvPr/>
        </p:nvSpPr>
        <p:spPr>
          <a:xfrm>
            <a:off x="4343400" y="1463040"/>
            <a:ext cx="34290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063240" cy="1828800"/>
          </a:xfrm>
          <a:prstGeom prst="rect">
            <a:avLst/>
          </a:prstGeom>
          <a:noFill/>
        </p:spPr>
        <p:txBody>
          <a:bodyPr wrap="square">
            <a:spAutoFit/>
          </a:bodyPr>
          <a:lstStyle/>
          <a:p>
            <a:pPr>
              <a:defRPr sz="1300" b="1">
                <a:solidFill>
                  <a:srgbClr val="7C3AED"/>
                </a:solidFill>
              </a:defRPr>
            </a:pPr>
            <a:r>
              <a:t>2. Deep Semantic Understanding</a:t>
            </a:r>
          </a:p>
          <a:p>
            <a:pPr>
              <a:defRPr sz="1100">
                <a:solidFill>
                  <a:srgbClr val="64748B"/>
                </a:solidFill>
              </a:defRPr>
            </a:pPr>
            <a:r>
              <a:t>Transforms unstructured campaign descriptions into 384-dimensional dense vectors and compares them with creator video topic vectors using Cosine Similarity.</a:t>
            </a:r>
          </a:p>
        </p:txBody>
      </p:sp>
      <p:sp>
        <p:nvSpPr>
          <p:cNvPr id="8" name="Rounded Rectangle 7"/>
          <p:cNvSpPr/>
          <p:nvPr/>
        </p:nvSpPr>
        <p:spPr>
          <a:xfrm>
            <a:off x="7955280" y="1463040"/>
            <a:ext cx="34290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645920"/>
            <a:ext cx="3063240" cy="1828800"/>
          </a:xfrm>
          <a:prstGeom prst="rect">
            <a:avLst/>
          </a:prstGeom>
          <a:noFill/>
        </p:spPr>
        <p:txBody>
          <a:bodyPr wrap="square">
            <a:spAutoFit/>
          </a:bodyPr>
          <a:lstStyle/>
          <a:p>
            <a:pPr>
              <a:defRPr sz="1300" b="1">
                <a:solidFill>
                  <a:srgbClr val="0284C7"/>
                </a:solidFill>
              </a:defRPr>
            </a:pPr>
            <a:r>
              <a:t>3. Engagement &amp; Metric Scaling</a:t>
            </a:r>
          </a:p>
          <a:p>
            <a:pPr>
              <a:defRPr sz="1100">
                <a:solidFill>
                  <a:srgbClr val="64748B"/>
                </a:solidFill>
              </a:defRPr>
            </a:pPr>
            <a:r>
              <a:t>Calculates authentic creator interaction rates, weeding out inactive channels and weighting consistency over one-off viral video spikes.</a:t>
            </a:r>
          </a:p>
        </p:txBody>
      </p:sp>
      <p:sp>
        <p:nvSpPr>
          <p:cNvPr id="10" name="Rounded Rectangle 9"/>
          <p:cNvSpPr/>
          <p:nvPr/>
        </p:nvSpPr>
        <p:spPr>
          <a:xfrm>
            <a:off x="731520" y="3931920"/>
            <a:ext cx="34290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14800"/>
            <a:ext cx="3063240" cy="1828800"/>
          </a:xfrm>
          <a:prstGeom prst="rect">
            <a:avLst/>
          </a:prstGeom>
          <a:noFill/>
        </p:spPr>
        <p:txBody>
          <a:bodyPr wrap="square">
            <a:spAutoFit/>
          </a:bodyPr>
          <a:lstStyle/>
          <a:p>
            <a:pPr>
              <a:defRPr sz="1300" b="1">
                <a:solidFill>
                  <a:srgbClr val="10B981"/>
                </a:solidFill>
              </a:defRPr>
            </a:pPr>
            <a:r>
              <a:t>4. Explainable ML Ranking Formula</a:t>
            </a:r>
          </a:p>
          <a:p>
            <a:pPr>
              <a:defRPr sz="1100">
                <a:solidFill>
                  <a:srgbClr val="64748B"/>
                </a:solidFill>
              </a:defRPr>
            </a:pPr>
            <a:r>
              <a:t>Combines semantic relevance (70%) and engagement performance (30%) with customizable weights based on Awareness, Engagement, or Conversions goals.</a:t>
            </a:r>
          </a:p>
        </p:txBody>
      </p:sp>
      <p:sp>
        <p:nvSpPr>
          <p:cNvPr id="12" name="Rounded Rectangle 11"/>
          <p:cNvSpPr/>
          <p:nvPr/>
        </p:nvSpPr>
        <p:spPr>
          <a:xfrm>
            <a:off x="4343400" y="3931920"/>
            <a:ext cx="34290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4114800"/>
            <a:ext cx="3063240" cy="1828800"/>
          </a:xfrm>
          <a:prstGeom prst="rect">
            <a:avLst/>
          </a:prstGeom>
          <a:noFill/>
        </p:spPr>
        <p:txBody>
          <a:bodyPr wrap="square">
            <a:spAutoFit/>
          </a:bodyPr>
          <a:lstStyle/>
          <a:p>
            <a:pPr>
              <a:defRPr sz="1300" b="1">
                <a:solidFill>
                  <a:srgbClr val="4F46E5"/>
                </a:solidFill>
              </a:defRPr>
            </a:pPr>
            <a:r>
              <a:t>5. Dual-Role Creator Platform</a:t>
            </a:r>
          </a:p>
          <a:p>
            <a:pPr>
              <a:defRPr sz="1100">
                <a:solidFill>
                  <a:srgbClr val="64748B"/>
                </a:solidFill>
              </a:defRPr>
            </a:pPr>
            <a:r>
              <a:t>Brands search and manage campaigns; verified creators register their YouTube channels, which are automatically ingested and indexed in real-time.</a:t>
            </a:r>
          </a:p>
        </p:txBody>
      </p:sp>
      <p:sp>
        <p:nvSpPr>
          <p:cNvPr id="14" name="Rounded Rectangle 13"/>
          <p:cNvSpPr/>
          <p:nvPr/>
        </p:nvSpPr>
        <p:spPr>
          <a:xfrm>
            <a:off x="7955280" y="3931920"/>
            <a:ext cx="342900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38160" y="4114800"/>
            <a:ext cx="3063240" cy="1828800"/>
          </a:xfrm>
          <a:prstGeom prst="rect">
            <a:avLst/>
          </a:prstGeom>
          <a:noFill/>
        </p:spPr>
        <p:txBody>
          <a:bodyPr wrap="square">
            <a:spAutoFit/>
          </a:bodyPr>
          <a:lstStyle/>
          <a:p>
            <a:pPr>
              <a:defRPr sz="1300" b="1">
                <a:solidFill>
                  <a:srgbClr val="7C3AED"/>
                </a:solidFill>
              </a:defRPr>
            </a:pPr>
            <a:r>
              <a:t>6. Privacy-Safe Direct Collaboration</a:t>
            </a:r>
          </a:p>
          <a:p>
            <a:pPr>
              <a:defRPr sz="1100">
                <a:solidFill>
                  <a:srgbClr val="64748B"/>
                </a:solidFill>
              </a:defRPr>
            </a:pPr>
            <a:r>
              <a:t>Single batched query (Zero N+1) to surface public collaboration emails for registered creators directly on recommendation cards.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End-to-End System Architecture &amp; Data Flow</a:t>
            </a:r>
          </a:p>
        </p:txBody>
      </p:sp>
      <p:sp>
        <p:nvSpPr>
          <p:cNvPr id="4" name="Rounded Rectangle 3"/>
          <p:cNvSpPr/>
          <p:nvPr/>
        </p:nvSpPr>
        <p:spPr>
          <a:xfrm>
            <a:off x="731520" y="1463040"/>
            <a:ext cx="20574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1783080" cy="4389120"/>
          </a:xfrm>
          <a:prstGeom prst="rect">
            <a:avLst/>
          </a:prstGeom>
          <a:noFill/>
        </p:spPr>
        <p:txBody>
          <a:bodyPr wrap="square">
            <a:spAutoFit/>
          </a:bodyPr>
          <a:lstStyle/>
          <a:p>
            <a:pPr>
              <a:defRPr sz="1300" b="1">
                <a:solidFill>
                  <a:srgbClr val="4F46E5"/>
                </a:solidFill>
              </a:defRPr>
            </a:pPr>
            <a:r>
              <a:t>1. Data Sources &amp; Ingestion</a:t>
            </a:r>
          </a:p>
          <a:p>
            <a:pPr>
              <a:defRPr sz="1000">
                <a:solidFill>
                  <a:srgbClr val="0F172A"/>
                </a:solidFill>
              </a:defRPr>
            </a:pPr>
            <a:r>
              <a:t>• YouTube Data API v3</a:t>
            </a:r>
          </a:p>
          <a:p>
            <a:pPr>
              <a:defRPr sz="1000">
                <a:solidFill>
                  <a:srgbClr val="0F172A"/>
                </a:solidFill>
              </a:defRPr>
            </a:pPr>
            <a:r>
              <a:t>• Channel metadata &amp; stats</a:t>
            </a:r>
          </a:p>
          <a:p>
            <a:pPr>
              <a:defRPr sz="1000">
                <a:solidFill>
                  <a:srgbClr val="0F172A"/>
                </a:solidFill>
              </a:defRPr>
            </a:pPr>
            <a:r>
              <a:t>• Top 15 recent videos</a:t>
            </a:r>
          </a:p>
          <a:p>
            <a:pPr>
              <a:defRPr sz="1000">
                <a:solidFill>
                  <a:srgbClr val="0F172A"/>
                </a:solidFill>
              </a:defRPr>
            </a:pPr>
            <a:r>
              <a:t>• Automated background task</a:t>
            </a:r>
          </a:p>
        </p:txBody>
      </p:sp>
      <p:sp>
        <p:nvSpPr>
          <p:cNvPr id="6" name="Rounded Rectangle 5"/>
          <p:cNvSpPr/>
          <p:nvPr/>
        </p:nvSpPr>
        <p:spPr>
          <a:xfrm>
            <a:off x="2907791" y="1463040"/>
            <a:ext cx="20574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44951" y="1645920"/>
            <a:ext cx="1783080" cy="4389120"/>
          </a:xfrm>
          <a:prstGeom prst="rect">
            <a:avLst/>
          </a:prstGeom>
          <a:noFill/>
        </p:spPr>
        <p:txBody>
          <a:bodyPr wrap="square">
            <a:spAutoFit/>
          </a:bodyPr>
          <a:lstStyle/>
          <a:p>
            <a:pPr>
              <a:defRPr sz="1300" b="1">
                <a:solidFill>
                  <a:srgbClr val="7C3AED"/>
                </a:solidFill>
              </a:defRPr>
            </a:pPr>
            <a:r>
              <a:t>2. Raw Document Layer</a:t>
            </a:r>
          </a:p>
          <a:p>
            <a:pPr>
              <a:defRPr sz="1000">
                <a:solidFill>
                  <a:srgbClr val="0F172A"/>
                </a:solidFill>
              </a:defRPr>
            </a:pPr>
            <a:r>
              <a:t>• MongoDB (influencer_db)</a:t>
            </a:r>
          </a:p>
          <a:p>
            <a:pPr>
              <a:defRPr sz="1000">
                <a:solidFill>
                  <a:srgbClr val="0F172A"/>
                </a:solidFill>
              </a:defRPr>
            </a:pPr>
            <a:r>
              <a:t>• Channels collection</a:t>
            </a:r>
          </a:p>
          <a:p>
            <a:pPr>
              <a:defRPr sz="1000">
                <a:solidFill>
                  <a:srgbClr val="0F172A"/>
                </a:solidFill>
              </a:defRPr>
            </a:pPr>
            <a:r>
              <a:t>• Videos collection</a:t>
            </a:r>
          </a:p>
          <a:p>
            <a:pPr>
              <a:defRPr sz="1000">
                <a:solidFill>
                  <a:srgbClr val="0F172A"/>
                </a:solidFill>
              </a:defRPr>
            </a:pPr>
            <a:r>
              <a:t>• Preserves raw API schemas</a:t>
            </a:r>
          </a:p>
        </p:txBody>
      </p:sp>
      <p:sp>
        <p:nvSpPr>
          <p:cNvPr id="8" name="Rounded Rectangle 7"/>
          <p:cNvSpPr/>
          <p:nvPr/>
        </p:nvSpPr>
        <p:spPr>
          <a:xfrm>
            <a:off x="5084064" y="1463040"/>
            <a:ext cx="20574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21224" y="1645920"/>
            <a:ext cx="1783080" cy="4389120"/>
          </a:xfrm>
          <a:prstGeom prst="rect">
            <a:avLst/>
          </a:prstGeom>
          <a:noFill/>
        </p:spPr>
        <p:txBody>
          <a:bodyPr wrap="square">
            <a:spAutoFit/>
          </a:bodyPr>
          <a:lstStyle/>
          <a:p>
            <a:pPr>
              <a:defRPr sz="1300" b="1">
                <a:solidFill>
                  <a:srgbClr val="0284C7"/>
                </a:solidFill>
              </a:defRPr>
            </a:pPr>
            <a:r>
              <a:t>3. AI &amp; Embeddings Engine</a:t>
            </a:r>
          </a:p>
          <a:p>
            <a:pPr>
              <a:defRPr sz="1000">
                <a:solidFill>
                  <a:srgbClr val="0F172A"/>
                </a:solidFill>
              </a:defRPr>
            </a:pPr>
            <a:r>
              <a:t>• FastAPI Python Server</a:t>
            </a:r>
          </a:p>
          <a:p>
            <a:pPr>
              <a:defRPr sz="1000">
                <a:solidFill>
                  <a:srgbClr val="0F172A"/>
                </a:solidFill>
              </a:defRPr>
            </a:pPr>
            <a:r>
              <a:t>• Sentence-BERT (MiniLM)</a:t>
            </a:r>
          </a:p>
          <a:p>
            <a:pPr>
              <a:defRPr sz="1000">
                <a:solidFill>
                  <a:srgbClr val="0F172A"/>
                </a:solidFill>
              </a:defRPr>
            </a:pPr>
            <a:r>
              <a:t>• 384-dim dense vectors</a:t>
            </a:r>
          </a:p>
          <a:p>
            <a:pPr>
              <a:defRPr sz="1000">
                <a:solidFill>
                  <a:srgbClr val="0F172A"/>
                </a:solidFill>
              </a:defRPr>
            </a:pPr>
            <a:r>
              <a:t>• Multi-objective ranking</a:t>
            </a:r>
          </a:p>
        </p:txBody>
      </p:sp>
      <p:sp>
        <p:nvSpPr>
          <p:cNvPr id="10" name="Rounded Rectangle 9"/>
          <p:cNvSpPr/>
          <p:nvPr/>
        </p:nvSpPr>
        <p:spPr>
          <a:xfrm>
            <a:off x="7260336" y="1463040"/>
            <a:ext cx="20574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97496" y="1645920"/>
            <a:ext cx="1783080" cy="4389120"/>
          </a:xfrm>
          <a:prstGeom prst="rect">
            <a:avLst/>
          </a:prstGeom>
          <a:noFill/>
        </p:spPr>
        <p:txBody>
          <a:bodyPr wrap="square">
            <a:spAutoFit/>
          </a:bodyPr>
          <a:lstStyle/>
          <a:p>
            <a:pPr>
              <a:defRPr sz="1300" b="1">
                <a:solidFill>
                  <a:srgbClr val="10B981"/>
                </a:solidFill>
              </a:defRPr>
            </a:pPr>
            <a:r>
              <a:t>4. Structured Cloud Store</a:t>
            </a:r>
          </a:p>
          <a:p>
            <a:pPr>
              <a:defRPr sz="1000">
                <a:solidFill>
                  <a:srgbClr val="0F172A"/>
                </a:solidFill>
              </a:defRPr>
            </a:pPr>
            <a:r>
              <a:t>• Supabase PostgreSQL</a:t>
            </a:r>
          </a:p>
          <a:p>
            <a:pPr>
              <a:defRPr sz="1000">
                <a:solidFill>
                  <a:srgbClr val="0F172A"/>
                </a:solidFill>
              </a:defRPr>
            </a:pPr>
            <a:r>
              <a:t>• JSONB vector embeddings</a:t>
            </a:r>
          </a:p>
          <a:p>
            <a:pPr>
              <a:defRPr sz="1000">
                <a:solidFill>
                  <a:srgbClr val="0F172A"/>
                </a:solidFill>
              </a:defRPr>
            </a:pPr>
            <a:r>
              <a:t>• Supabase Auth (JWT)</a:t>
            </a:r>
          </a:p>
          <a:p>
            <a:pPr>
              <a:defRPr sz="1000">
                <a:solidFill>
                  <a:srgbClr val="0F172A"/>
                </a:solidFill>
              </a:defRPr>
            </a:pPr>
            <a:r>
              <a:t>• Row-Level Security (RLS)</a:t>
            </a:r>
          </a:p>
        </p:txBody>
      </p:sp>
      <p:sp>
        <p:nvSpPr>
          <p:cNvPr id="12" name="Rounded Rectangle 11"/>
          <p:cNvSpPr/>
          <p:nvPr/>
        </p:nvSpPr>
        <p:spPr>
          <a:xfrm>
            <a:off x="9436608" y="1463040"/>
            <a:ext cx="205740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73768" y="1645920"/>
            <a:ext cx="1783080" cy="4389120"/>
          </a:xfrm>
          <a:prstGeom prst="rect">
            <a:avLst/>
          </a:prstGeom>
          <a:noFill/>
        </p:spPr>
        <p:txBody>
          <a:bodyPr wrap="square">
            <a:spAutoFit/>
          </a:bodyPr>
          <a:lstStyle/>
          <a:p>
            <a:pPr>
              <a:defRPr sz="1300" b="1">
                <a:solidFill>
                  <a:srgbClr val="4F46E5"/>
                </a:solidFill>
              </a:defRPr>
            </a:pPr>
            <a:r>
              <a:t>5. User Application</a:t>
            </a:r>
          </a:p>
          <a:p>
            <a:pPr>
              <a:defRPr sz="1000">
                <a:solidFill>
                  <a:srgbClr val="0F172A"/>
                </a:solidFill>
              </a:defRPr>
            </a:pPr>
            <a:r>
              <a:t>• React 19 + MUI Client</a:t>
            </a:r>
          </a:p>
          <a:p>
            <a:pPr>
              <a:defRPr sz="1000">
                <a:solidFill>
                  <a:srgbClr val="0F172A"/>
                </a:solidFill>
              </a:defRPr>
            </a:pPr>
            <a:r>
              <a:t>• Express.js Gateway Proxy</a:t>
            </a:r>
          </a:p>
          <a:p>
            <a:pPr>
              <a:defRPr sz="1000">
                <a:solidFill>
                  <a:srgbClr val="0F172A"/>
                </a:solidFill>
              </a:defRPr>
            </a:pPr>
            <a:r>
              <a:t>• Live channel registration</a:t>
            </a:r>
          </a:p>
          <a:p>
            <a:pPr>
              <a:defRPr sz="1000">
                <a:solidFill>
                  <a:srgbClr val="0F172A"/>
                </a:solidFill>
              </a:defRPr>
            </a:pPr>
            <a:r>
              <a:t>• Explainable card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Deep Dive: How Supabase Works in InfluenceAI</a:t>
            </a:r>
          </a:p>
        </p:txBody>
      </p:sp>
      <p:sp>
        <p:nvSpPr>
          <p:cNvPr id="4" name="Rounded Rectangle 3"/>
          <p:cNvSpPr/>
          <p:nvPr/>
        </p:nvSpPr>
        <p:spPr>
          <a:xfrm>
            <a:off x="731520" y="146304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92040" cy="1874519"/>
          </a:xfrm>
          <a:prstGeom prst="rect">
            <a:avLst/>
          </a:prstGeom>
          <a:noFill/>
        </p:spPr>
        <p:txBody>
          <a:bodyPr wrap="square">
            <a:spAutoFit/>
          </a:bodyPr>
          <a:lstStyle/>
          <a:p>
            <a:pPr>
              <a:defRPr sz="1300" b="1">
                <a:solidFill>
                  <a:srgbClr val="4F46E5"/>
                </a:solidFill>
              </a:defRPr>
            </a:pPr>
            <a:r>
              <a:t>1. Relational PostgreSQL Engine</a:t>
            </a:r>
          </a:p>
          <a:p>
            <a:pPr>
              <a:defRPr sz="1100">
                <a:solidFill>
                  <a:srgbClr val="0F172A"/>
                </a:solidFill>
              </a:defRPr>
            </a:pPr>
            <a:r>
              <a:t>• Managed cloud PostgreSQL cluster on AWS.</a:t>
            </a:r>
          </a:p>
          <a:p>
            <a:pPr>
              <a:defRPr sz="1100">
                <a:solidFill>
                  <a:srgbClr val="0F172A"/>
                </a:solidFill>
              </a:defRPr>
            </a:pPr>
            <a:r>
              <a:t>• Strict schemas: public.brands, public.influencers, public.campaigns, public.recommendation_history.</a:t>
            </a:r>
          </a:p>
          <a:p>
            <a:pPr>
              <a:defRPr sz="1100">
                <a:solidFill>
                  <a:srgbClr val="0F172A"/>
                </a:solidFill>
              </a:defRPr>
            </a:pPr>
            <a:r>
              <a:t>• Enforces foreign-key integrity between auth.users and user profile records.</a:t>
            </a:r>
          </a:p>
        </p:txBody>
      </p:sp>
      <p:sp>
        <p:nvSpPr>
          <p:cNvPr id="6" name="Rounded Rectangle 5"/>
          <p:cNvSpPr/>
          <p:nvPr/>
        </p:nvSpPr>
        <p:spPr>
          <a:xfrm>
            <a:off x="6172200" y="146304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645920"/>
            <a:ext cx="4892040" cy="1874519"/>
          </a:xfrm>
          <a:prstGeom prst="rect">
            <a:avLst/>
          </a:prstGeom>
          <a:noFill/>
        </p:spPr>
        <p:txBody>
          <a:bodyPr wrap="square">
            <a:spAutoFit/>
          </a:bodyPr>
          <a:lstStyle/>
          <a:p>
            <a:pPr>
              <a:defRPr sz="1300" b="1">
                <a:solidFill>
                  <a:srgbClr val="7C3AED"/>
                </a:solidFill>
              </a:defRPr>
            </a:pPr>
            <a:r>
              <a:t>2. Supabase Auth &amp; JWT Session Life-Cycle</a:t>
            </a:r>
          </a:p>
          <a:p>
            <a:pPr>
              <a:defRPr sz="1100">
                <a:solidFill>
                  <a:srgbClr val="0F172A"/>
                </a:solidFill>
              </a:defRPr>
            </a:pPr>
            <a:r>
              <a:t>• Client-side session management via @supabase/supabase-js.</a:t>
            </a:r>
          </a:p>
          <a:p>
            <a:pPr>
              <a:defRPr sz="1100">
                <a:solidFill>
                  <a:srgbClr val="0F172A"/>
                </a:solidFill>
              </a:defRPr>
            </a:pPr>
            <a:r>
              <a:t>• Reactive state sync via supabase.auth.onAuthStateChange.</a:t>
            </a:r>
          </a:p>
          <a:p>
            <a:pPr>
              <a:defRPr sz="1100">
                <a:solidFill>
                  <a:srgbClr val="0F172A"/>
                </a:solidFill>
              </a:defRPr>
            </a:pPr>
            <a:r>
              <a:t>• Issues cryptographically signed RS256/HS256 Bearer JWTs.</a:t>
            </a:r>
          </a:p>
          <a:p>
            <a:pPr>
              <a:defRPr sz="1100">
                <a:solidFill>
                  <a:srgbClr val="0F172A"/>
                </a:solidFill>
              </a:defRPr>
            </a:pPr>
            <a:r>
              <a:t>• Verified on FastAPI via get_current_user dependency.</a:t>
            </a:r>
          </a:p>
        </p:txBody>
      </p:sp>
      <p:sp>
        <p:nvSpPr>
          <p:cNvPr id="8" name="Rounded Rectangle 7"/>
          <p:cNvSpPr/>
          <p:nvPr/>
        </p:nvSpPr>
        <p:spPr>
          <a:xfrm>
            <a:off x="731520" y="3931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892040" cy="1874519"/>
          </a:xfrm>
          <a:prstGeom prst="rect">
            <a:avLst/>
          </a:prstGeom>
          <a:noFill/>
        </p:spPr>
        <p:txBody>
          <a:bodyPr wrap="square">
            <a:spAutoFit/>
          </a:bodyPr>
          <a:lstStyle/>
          <a:p>
            <a:pPr>
              <a:defRPr sz="1300" b="1">
                <a:solidFill>
                  <a:srgbClr val="0284C7"/>
                </a:solidFill>
              </a:defRPr>
            </a:pPr>
            <a:r>
              <a:t>3. Row-Level Security (RLS) &amp; Privacy Views</a:t>
            </a:r>
          </a:p>
          <a:p>
            <a:pPr>
              <a:defRPr sz="1100">
                <a:solidFill>
                  <a:srgbClr val="0F172A"/>
                </a:solidFill>
              </a:defRPr>
            </a:pPr>
            <a:r>
              <a:t>• RLS policy: (auth.uid() = user_id) allows creators to edit only their own channel records.</a:t>
            </a:r>
          </a:p>
          <a:p>
            <a:pPr>
              <a:defRPr sz="1100">
                <a:solidFill>
                  <a:srgbClr val="0F172A"/>
                </a:solidFill>
              </a:defRPr>
            </a:pPr>
            <a:r>
              <a:t>• View registered_channels_public exposes contact_email ONLY when show_email_publicly = true.</a:t>
            </a:r>
          </a:p>
          <a:p>
            <a:pPr>
              <a:defRPr sz="1100">
                <a:solidFill>
                  <a:srgbClr val="0F172A"/>
                </a:solidFill>
              </a:defRPr>
            </a:pPr>
            <a:r>
              <a:t>• Eliminates data leaks: brands cannot access private creator settings.</a:t>
            </a:r>
          </a:p>
        </p:txBody>
      </p:sp>
      <p:sp>
        <p:nvSpPr>
          <p:cNvPr id="10" name="Rounded Rectangle 9"/>
          <p:cNvSpPr/>
          <p:nvPr/>
        </p:nvSpPr>
        <p:spPr>
          <a:xfrm>
            <a:off x="6172200" y="3931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114800"/>
            <a:ext cx="4892040" cy="1874519"/>
          </a:xfrm>
          <a:prstGeom prst="rect">
            <a:avLst/>
          </a:prstGeom>
          <a:noFill/>
        </p:spPr>
        <p:txBody>
          <a:bodyPr wrap="square">
            <a:spAutoFit/>
          </a:bodyPr>
          <a:lstStyle/>
          <a:p>
            <a:pPr>
              <a:defRPr sz="1300" b="1">
                <a:solidFill>
                  <a:srgbClr val="10B981"/>
                </a:solidFill>
              </a:defRPr>
            </a:pPr>
            <a:r>
              <a:t>4. Vector Storage via JSONB Embeddings</a:t>
            </a:r>
          </a:p>
          <a:p>
            <a:pPr>
              <a:defRPr sz="1100">
                <a:solidFill>
                  <a:srgbClr val="0F172A"/>
                </a:solidFill>
              </a:defRPr>
            </a:pPr>
            <a:r>
              <a:t>• Stores 384-dimensional dense SBERT floating-point vectors directly in ml_data.channels.</a:t>
            </a:r>
          </a:p>
          <a:p>
            <a:pPr>
              <a:defRPr sz="1100">
                <a:solidFill>
                  <a:srgbClr val="0F172A"/>
                </a:solidFill>
              </a:defRPr>
            </a:pPr>
            <a:r>
              <a:t>• Indexed via unique constraint on channel_id.</a:t>
            </a:r>
          </a:p>
          <a:p>
            <a:pPr>
              <a:defRPr sz="1100">
                <a:solidFill>
                  <a:srgbClr val="0F172A"/>
                </a:solidFill>
              </a:defRPr>
            </a:pPr>
            <a:r>
              <a:t>• In-memory cache in db.py loads candidates into pandas tensors for sub-50ms cosine similarity.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Database Architecture: Polyglot Design &amp; Relational Schema</a:t>
            </a:r>
          </a:p>
        </p:txBody>
      </p:sp>
      <p:sp>
        <p:nvSpPr>
          <p:cNvPr id="4" name="Rounded Rectangle 3"/>
          <p:cNvSpPr/>
          <p:nvPr/>
        </p:nvSpPr>
        <p:spPr>
          <a:xfrm>
            <a:off x="731520" y="1463040"/>
            <a:ext cx="50292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663440" cy="4480560"/>
          </a:xfrm>
          <a:prstGeom prst="rect">
            <a:avLst/>
          </a:prstGeom>
          <a:noFill/>
        </p:spPr>
        <p:txBody>
          <a:bodyPr wrap="square">
            <a:spAutoFit/>
          </a:bodyPr>
          <a:lstStyle/>
          <a:p>
            <a:pPr>
              <a:defRPr sz="1500" b="1">
                <a:solidFill>
                  <a:srgbClr val="4F46E5"/>
                </a:solidFill>
              </a:defRPr>
            </a:pPr>
            <a:r>
              <a:t>Relational Integrity + Document Flexibility</a:t>
            </a:r>
          </a:p>
          <a:p>
            <a:pPr>
              <a:defRPr sz="1100" b="1">
                <a:solidFill>
                  <a:srgbClr val="0F172A"/>
                </a:solidFill>
              </a:defRPr>
            </a:pPr>
            <a:r>
              <a:t>• Users (auth.users): </a:t>
            </a:r>
          </a:p>
          <a:p>
            <a:pPr>
              <a:defRPr sz="1000">
                <a:solidFill>
                  <a:srgbClr val="64748B"/>
                </a:solidFill>
              </a:defRPr>
            </a:pPr>
            <a:r>
              <a:t>   Central authentication entity managing emails, hashed credentials, and metadata roles (brand vs influencer).</a:t>
            </a:r>
          </a:p>
          <a:p>
            <a:pPr>
              <a:defRPr sz="1100" b="1">
                <a:solidFill>
                  <a:srgbClr val="0F172A"/>
                </a:solidFill>
              </a:defRPr>
            </a:pPr>
            <a:r>
              <a:t>• Brand_profile &amp; Influencers: </a:t>
            </a:r>
          </a:p>
          <a:p>
            <a:pPr>
              <a:defRPr sz="1000">
                <a:solidFill>
                  <a:srgbClr val="64748B"/>
                </a:solidFill>
              </a:defRPr>
            </a:pPr>
            <a:r>
              <a:t>   Stores business details (company_name, industry, website, location) linked via user_id foreign key.</a:t>
            </a:r>
          </a:p>
          <a:p>
            <a:pPr>
              <a:defRPr sz="1100" b="1">
                <a:solidFill>
                  <a:srgbClr val="0F172A"/>
                </a:solidFill>
              </a:defRPr>
            </a:pPr>
            <a:r>
              <a:t>• Campaigns: </a:t>
            </a:r>
          </a:p>
          <a:p>
            <a:pPr>
              <a:defRPr sz="1000">
                <a:solidFill>
                  <a:srgbClr val="64748B"/>
                </a:solidFill>
              </a:defRPr>
            </a:pPr>
            <a:r>
              <a:t>   Encapsulates brand campaign parameters: category, budget, target_country, goal, and campaign_description.</a:t>
            </a:r>
          </a:p>
          <a:p>
            <a:pPr>
              <a:defRPr sz="1100" b="1">
                <a:solidFill>
                  <a:srgbClr val="0F172A"/>
                </a:solidFill>
              </a:defRPr>
            </a:pPr>
            <a:r>
              <a:t>• registered_channels: </a:t>
            </a:r>
          </a:p>
          <a:p>
            <a:pPr>
              <a:defRPr sz="1000">
                <a:solidFill>
                  <a:srgbClr val="64748B"/>
                </a:solidFill>
              </a:defRPr>
            </a:pPr>
            <a:r>
              <a:t>   Links creators to verified YouTube channel_ids, contact_email, show_email_publicly consent, and ingestion_status.</a:t>
            </a:r>
          </a:p>
          <a:p>
            <a:pPr>
              <a:defRPr sz="1100" b="1">
                <a:solidFill>
                  <a:srgbClr val="0F172A"/>
                </a:solidFill>
              </a:defRPr>
            </a:pPr>
            <a:r>
              <a:t>• ml_data.channels: </a:t>
            </a:r>
          </a:p>
          <a:p>
            <a:pPr>
              <a:defRPr sz="1000">
                <a:solidFill>
                  <a:srgbClr val="64748B"/>
                </a:solidFill>
              </a:defRPr>
            </a:pPr>
            <a:r>
              <a:t>   Indexed operational table containing clean metadata, statistics, tier, and 384-dim SBERT profile embeddings.</a:t>
            </a:r>
          </a:p>
        </p:txBody>
      </p:sp>
      <p:sp>
        <p:nvSpPr>
          <p:cNvPr id="6" name="Rounded Rectangle 5"/>
          <p:cNvSpPr/>
          <p:nvPr/>
        </p:nvSpPr>
        <p:spPr>
          <a:xfrm>
            <a:off x="6035040" y="1463040"/>
            <a:ext cx="539496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1.png"/>
          <p:cNvPicPr>
            <a:picLocks noChangeAspect="1"/>
          </p:cNvPicPr>
          <p:nvPr/>
        </p:nvPicPr>
        <p:blipFill>
          <a:blip r:embed="rId2"/>
          <a:stretch>
            <a:fillRect/>
          </a:stretch>
        </p:blipFill>
        <p:spPr>
          <a:xfrm>
            <a:off x="6217920" y="1645920"/>
            <a:ext cx="5029200" cy="5029200"/>
          </a:xfrm>
          <a:prstGeom prst="rect">
            <a:avLst/>
          </a:prstGeom>
        </p:spPr>
      </p:pic>
      <p:sp>
        <p:nvSpPr>
          <p:cNvPr id="8" name="TextBox 7"/>
          <p:cNvSpPr txBox="1"/>
          <p:nvPr/>
        </p:nvSpPr>
        <p:spPr>
          <a:xfrm>
            <a:off x="6217920" y="5852160"/>
            <a:ext cx="5029200" cy="365760"/>
          </a:xfrm>
          <a:prstGeom prst="rect">
            <a:avLst/>
          </a:prstGeom>
          <a:noFill/>
        </p:spPr>
        <p:txBody>
          <a:bodyPr wrap="none">
            <a:spAutoFit/>
          </a:bodyPr>
          <a:lstStyle/>
          <a:p>
            <a:pPr algn="ctr">
              <a:defRPr sz="1000">
                <a:solidFill>
                  <a:srgbClr val="64748B"/>
                </a:solidFill>
              </a:defRPr>
            </a:pPr>
            <a:r>
              <a:t>Figure: Entity-Relationship Diagram implemented in PostgreSQL / Supabase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Data Acquisition: YouTube Data API v3 Ingestion</a:t>
            </a:r>
          </a:p>
        </p:txBody>
      </p:sp>
      <p:sp>
        <p:nvSpPr>
          <p:cNvPr id="4" name="Rounded Rectangle 3"/>
          <p:cNvSpPr/>
          <p:nvPr/>
        </p:nvSpPr>
        <p:spPr>
          <a:xfrm>
            <a:off x="731520" y="1463040"/>
            <a:ext cx="25603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554480"/>
            <a:ext cx="2560320" cy="914400"/>
          </a:xfrm>
          <a:prstGeom prst="rect">
            <a:avLst/>
          </a:prstGeom>
          <a:noFill/>
        </p:spPr>
        <p:txBody>
          <a:bodyPr wrap="none">
            <a:spAutoFit/>
          </a:bodyPr>
          <a:lstStyle/>
          <a:p>
            <a:pPr algn="ctr">
              <a:defRPr sz="2200" b="1">
                <a:solidFill>
                  <a:srgbClr val="4F46E5"/>
                </a:solidFill>
              </a:defRPr>
            </a:pPr>
            <a:r>
              <a:t>~2,000+</a:t>
            </a:r>
          </a:p>
          <a:p>
            <a:pPr algn="ctr">
              <a:defRPr sz="1100">
                <a:solidFill>
                  <a:srgbClr val="64748B"/>
                </a:solidFill>
              </a:defRPr>
            </a:pPr>
            <a:r>
              <a:t>Indexed Channels</a:t>
            </a:r>
          </a:p>
        </p:txBody>
      </p:sp>
      <p:sp>
        <p:nvSpPr>
          <p:cNvPr id="6" name="Rounded Rectangle 5"/>
          <p:cNvSpPr/>
          <p:nvPr/>
        </p:nvSpPr>
        <p:spPr>
          <a:xfrm>
            <a:off x="3456432" y="1463040"/>
            <a:ext cx="25603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456432" y="1554480"/>
            <a:ext cx="2560320" cy="914400"/>
          </a:xfrm>
          <a:prstGeom prst="rect">
            <a:avLst/>
          </a:prstGeom>
          <a:noFill/>
        </p:spPr>
        <p:txBody>
          <a:bodyPr wrap="none">
            <a:spAutoFit/>
          </a:bodyPr>
          <a:lstStyle/>
          <a:p>
            <a:pPr algn="ctr">
              <a:defRPr sz="2200" b="1">
                <a:solidFill>
                  <a:srgbClr val="7C3AED"/>
                </a:solidFill>
              </a:defRPr>
            </a:pPr>
            <a:r>
              <a:t>2,841+</a:t>
            </a:r>
          </a:p>
          <a:p>
            <a:pPr algn="ctr">
              <a:defRPr sz="1100">
                <a:solidFill>
                  <a:srgbClr val="64748B"/>
                </a:solidFill>
              </a:defRPr>
            </a:pPr>
            <a:r>
              <a:t>Video Records</a:t>
            </a:r>
          </a:p>
        </p:txBody>
      </p:sp>
      <p:sp>
        <p:nvSpPr>
          <p:cNvPr id="8" name="Rounded Rectangle 7"/>
          <p:cNvSpPr/>
          <p:nvPr/>
        </p:nvSpPr>
        <p:spPr>
          <a:xfrm>
            <a:off x="6181344" y="1463040"/>
            <a:ext cx="25603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81344" y="1554480"/>
            <a:ext cx="2560320" cy="914400"/>
          </a:xfrm>
          <a:prstGeom prst="rect">
            <a:avLst/>
          </a:prstGeom>
          <a:noFill/>
        </p:spPr>
        <p:txBody>
          <a:bodyPr wrap="none">
            <a:spAutoFit/>
          </a:bodyPr>
          <a:lstStyle/>
          <a:p>
            <a:pPr algn="ctr">
              <a:defRPr sz="2200" b="1">
                <a:solidFill>
                  <a:srgbClr val="0284C7"/>
                </a:solidFill>
              </a:defRPr>
            </a:pPr>
            <a:r>
              <a:t>12</a:t>
            </a:r>
          </a:p>
          <a:p>
            <a:pPr algn="ctr">
              <a:defRPr sz="1100">
                <a:solidFill>
                  <a:srgbClr val="64748B"/>
                </a:solidFill>
              </a:defRPr>
            </a:pPr>
            <a:r>
              <a:t>Content Niches</a:t>
            </a:r>
          </a:p>
        </p:txBody>
      </p:sp>
      <p:sp>
        <p:nvSpPr>
          <p:cNvPr id="10" name="Rounded Rectangle 9"/>
          <p:cNvSpPr/>
          <p:nvPr/>
        </p:nvSpPr>
        <p:spPr>
          <a:xfrm>
            <a:off x="8906256" y="1463040"/>
            <a:ext cx="25603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06256" y="1554480"/>
            <a:ext cx="2560320" cy="914400"/>
          </a:xfrm>
          <a:prstGeom prst="rect">
            <a:avLst/>
          </a:prstGeom>
          <a:noFill/>
        </p:spPr>
        <p:txBody>
          <a:bodyPr wrap="none">
            <a:spAutoFit/>
          </a:bodyPr>
          <a:lstStyle/>
          <a:p>
            <a:pPr algn="ctr">
              <a:defRPr sz="2200" b="1">
                <a:solidFill>
                  <a:srgbClr val="10B981"/>
                </a:solidFill>
              </a:defRPr>
            </a:pPr>
            <a:r>
              <a:t>15 Videos</a:t>
            </a:r>
          </a:p>
          <a:p>
            <a:pPr algn="ctr">
              <a:defRPr sz="1100">
                <a:solidFill>
                  <a:srgbClr val="64748B"/>
                </a:solidFill>
              </a:defRPr>
            </a:pPr>
            <a:r>
              <a:t>Per Channel Limit</a:t>
            </a:r>
          </a:p>
        </p:txBody>
      </p:sp>
      <p:sp>
        <p:nvSpPr>
          <p:cNvPr id="12" name="Rounded Rectangle 11"/>
          <p:cNvSpPr/>
          <p:nvPr/>
        </p:nvSpPr>
        <p:spPr>
          <a:xfrm>
            <a:off x="731520" y="2834640"/>
            <a:ext cx="52120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017520"/>
            <a:ext cx="4846320" cy="3108960"/>
          </a:xfrm>
          <a:prstGeom prst="rect">
            <a:avLst/>
          </a:prstGeom>
          <a:noFill/>
        </p:spPr>
        <p:txBody>
          <a:bodyPr wrap="square">
            <a:spAutoFit/>
          </a:bodyPr>
          <a:lstStyle/>
          <a:p>
            <a:pPr>
              <a:defRPr sz="1400" b="1">
                <a:solidFill>
                  <a:srgbClr val="4F46E5"/>
                </a:solidFill>
              </a:defRPr>
            </a:pPr>
            <a:r>
              <a:t>Channel-Level Signals Extracted</a:t>
            </a:r>
          </a:p>
          <a:p>
            <a:pPr>
              <a:defRPr sz="1100">
                <a:solidFill>
                  <a:srgbClr val="0F172A"/>
                </a:solidFill>
              </a:defRPr>
            </a:pPr>
            <a:r>
              <a:t>• Core Metadata: Channel ID (UC...), title, custom URL, description, published date, country.</a:t>
            </a:r>
          </a:p>
          <a:p>
            <a:pPr>
              <a:defRPr sz="1100">
                <a:solidFill>
                  <a:srgbClr val="0F172A"/>
                </a:solidFill>
              </a:defRPr>
            </a:pPr>
            <a:r>
              <a:t>• Audience Statistics: Subscriber count, total channel view count, cumulative video count.</a:t>
            </a:r>
          </a:p>
          <a:p>
            <a:pPr>
              <a:defRPr sz="1100">
                <a:solidFill>
                  <a:srgbClr val="0F172A"/>
                </a:solidFill>
              </a:defRPr>
            </a:pPr>
            <a:r>
              <a:t>• Categorization Signals: Topic categories, branding settings keywords, and upload playlist ID.</a:t>
            </a:r>
          </a:p>
          <a:p>
            <a:pPr>
              <a:defRPr sz="1100">
                <a:solidFill>
                  <a:srgbClr val="0F172A"/>
                </a:solidFill>
              </a:defRPr>
            </a:pPr>
            <a:r>
              <a:t>• MongoDB Schema: Raw documents stored with exact source fields to enable retrospective feature engineering.</a:t>
            </a:r>
          </a:p>
        </p:txBody>
      </p:sp>
      <p:sp>
        <p:nvSpPr>
          <p:cNvPr id="14" name="Rounded Rectangle 13"/>
          <p:cNvSpPr/>
          <p:nvPr/>
        </p:nvSpPr>
        <p:spPr>
          <a:xfrm>
            <a:off x="6217920" y="2834640"/>
            <a:ext cx="5212080" cy="3474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017520"/>
            <a:ext cx="4846320" cy="3108960"/>
          </a:xfrm>
          <a:prstGeom prst="rect">
            <a:avLst/>
          </a:prstGeom>
          <a:noFill/>
        </p:spPr>
        <p:txBody>
          <a:bodyPr wrap="square">
            <a:spAutoFit/>
          </a:bodyPr>
          <a:lstStyle/>
          <a:p>
            <a:pPr>
              <a:defRPr sz="1400" b="1">
                <a:solidFill>
                  <a:srgbClr val="7C3AED"/>
                </a:solidFill>
              </a:defRPr>
            </a:pPr>
            <a:r>
              <a:t>Video-Level Performance Signals</a:t>
            </a:r>
          </a:p>
          <a:p>
            <a:pPr>
              <a:defRPr sz="1100">
                <a:solidFill>
                  <a:srgbClr val="0F172A"/>
                </a:solidFill>
              </a:defRPr>
            </a:pPr>
            <a:r>
              <a:t>• Engagement Metrics: View count, like count, comment count per video.</a:t>
            </a:r>
          </a:p>
          <a:p>
            <a:pPr>
              <a:defRPr sz="1100">
                <a:solidFill>
                  <a:srgbClr val="0F172A"/>
                </a:solidFill>
              </a:defRPr>
            </a:pPr>
            <a:r>
              <a:t>• Content Descriptors: Video title, detailed description, tags, category ID, publication timestamp.</a:t>
            </a:r>
          </a:p>
          <a:p>
            <a:pPr>
              <a:defRPr sz="1100">
                <a:solidFill>
                  <a:srgbClr val="0F172A"/>
                </a:solidFill>
              </a:defRPr>
            </a:pPr>
            <a:r>
              <a:t>• Recent Performance: Latest 15 uploads fetched to measure active current audience response.</a:t>
            </a:r>
          </a:p>
          <a:p>
            <a:pPr>
              <a:defRPr sz="1100">
                <a:solidFill>
                  <a:srgbClr val="0F172A"/>
                </a:solidFill>
              </a:defRPr>
            </a:pPr>
            <a:r>
              <a:t>• Database Storage Safeguard: Video counts capped at 15 per creator to respect MongoDB free-tier 512MB quotas.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Recommendation Logic (Step 1): Multi-Factor Hard Filtering</a:t>
            </a:r>
          </a:p>
        </p:txBody>
      </p:sp>
      <p:sp>
        <p:nvSpPr>
          <p:cNvPr id="4" name="Rounded Rectangle 3"/>
          <p:cNvSpPr/>
          <p:nvPr/>
        </p:nvSpPr>
        <p:spPr>
          <a:xfrm>
            <a:off x="73152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63240" cy="4389120"/>
          </a:xfrm>
          <a:prstGeom prst="rect">
            <a:avLst/>
          </a:prstGeom>
          <a:noFill/>
        </p:spPr>
        <p:txBody>
          <a:bodyPr wrap="square">
            <a:spAutoFit/>
          </a:bodyPr>
          <a:lstStyle/>
          <a:p>
            <a:pPr>
              <a:defRPr sz="1500" b="1">
                <a:solidFill>
                  <a:srgbClr val="4F46E5"/>
                </a:solidFill>
              </a:defRPr>
            </a:pPr>
            <a:r>
              <a:t>1. Category Alignment</a:t>
            </a:r>
          </a:p>
          <a:p>
            <a:pPr>
              <a:defRPr sz="1100">
                <a:solidFill>
                  <a:srgbClr val="0F172A"/>
                </a:solidFill>
              </a:defRPr>
            </a:pPr>
            <a:r>
              <a:t>Goal: Strict semantic topic segregation.</a:t>
            </a:r>
          </a:p>
          <a:p>
            <a:pPr>
              <a:defRPr sz="1100">
                <a:solidFill>
                  <a:srgbClr val="0F172A"/>
                </a:solidFill>
              </a:defRPr>
            </a:pPr>
          </a:p>
          <a:p>
            <a:pPr>
              <a:defRPr sz="1100">
                <a:solidFill>
                  <a:srgbClr val="0F172A"/>
                </a:solidFill>
              </a:defRPr>
            </a:pPr>
            <a:r>
              <a:t>• Maps brand campaign category against creator content category.</a:t>
            </a:r>
          </a:p>
          <a:p>
            <a:pPr>
              <a:defRPr sz="1100">
                <a:solidFill>
                  <a:srgbClr val="0F172A"/>
                </a:solidFill>
              </a:defRPr>
            </a:pPr>
            <a:r>
              <a:t>• Normalizes aliases: e.g. 'tech' -&gt; 'gaming', 'workout' -&gt; 'fitness', 'skincare' -&gt; 'beauty'.</a:t>
            </a:r>
          </a:p>
          <a:p>
            <a:pPr>
              <a:defRPr sz="1100">
                <a:solidFill>
                  <a:srgbClr val="0F172A"/>
                </a:solidFill>
              </a:defRPr>
            </a:pPr>
            <a:r>
              <a:t>• Prevents irrelevant creators (e.g. fashion creators for a tech campaign) from entering the scoring pool.</a:t>
            </a:r>
          </a:p>
        </p:txBody>
      </p:sp>
      <p:sp>
        <p:nvSpPr>
          <p:cNvPr id="6" name="Rounded Rectangle 5"/>
          <p:cNvSpPr/>
          <p:nvPr/>
        </p:nvSpPr>
        <p:spPr>
          <a:xfrm>
            <a:off x="434340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063240" cy="4389120"/>
          </a:xfrm>
          <a:prstGeom prst="rect">
            <a:avLst/>
          </a:prstGeom>
          <a:noFill/>
        </p:spPr>
        <p:txBody>
          <a:bodyPr wrap="square">
            <a:spAutoFit/>
          </a:bodyPr>
          <a:lstStyle/>
          <a:p>
            <a:pPr>
              <a:defRPr sz="1500" b="1">
                <a:solidFill>
                  <a:srgbClr val="7C3AED"/>
                </a:solidFill>
              </a:defRPr>
            </a:pPr>
            <a:r>
              <a:t>2. Geographic / Country Match</a:t>
            </a:r>
          </a:p>
          <a:p>
            <a:pPr>
              <a:defRPr sz="1100">
                <a:solidFill>
                  <a:srgbClr val="0F172A"/>
                </a:solidFill>
              </a:defRPr>
            </a:pPr>
            <a:r>
              <a:t>Goal: Ensure audience reach matches the target region.</a:t>
            </a:r>
          </a:p>
          <a:p>
            <a:pPr>
              <a:defRPr sz="1100">
                <a:solidFill>
                  <a:srgbClr val="0F172A"/>
                </a:solidFill>
              </a:defRPr>
            </a:pPr>
          </a:p>
          <a:p>
            <a:pPr>
              <a:defRPr sz="1100">
                <a:solidFill>
                  <a:srgbClr val="0F172A"/>
                </a:solidFill>
              </a:defRPr>
            </a:pPr>
            <a:r>
              <a:t>• Filters creators by country code (e.g., 'IN' for India, 'US' for USA).</a:t>
            </a:r>
          </a:p>
          <a:p>
            <a:pPr>
              <a:defRPr sz="1100">
                <a:solidFill>
                  <a:srgbClr val="0F172A"/>
                </a:solidFill>
              </a:defRPr>
            </a:pPr>
            <a:r>
              <a:t>• Supports 'All Countries' / 'Global' campaigns without geographic restrictions.</a:t>
            </a:r>
          </a:p>
          <a:p>
            <a:pPr>
              <a:defRPr sz="1100">
                <a:solidFill>
                  <a:srgbClr val="0F172A"/>
                </a:solidFill>
              </a:defRPr>
            </a:pPr>
            <a:r>
              <a:t>• Normalizes international names: 'India', 'in', 'IN' all resolve to standard ISO codes.</a:t>
            </a:r>
          </a:p>
        </p:txBody>
      </p:sp>
      <p:sp>
        <p:nvSpPr>
          <p:cNvPr id="8" name="Rounded Rectangle 7"/>
          <p:cNvSpPr/>
          <p:nvPr/>
        </p:nvSpPr>
        <p:spPr>
          <a:xfrm>
            <a:off x="795528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645920"/>
            <a:ext cx="3063240" cy="4389120"/>
          </a:xfrm>
          <a:prstGeom prst="rect">
            <a:avLst/>
          </a:prstGeom>
          <a:noFill/>
        </p:spPr>
        <p:txBody>
          <a:bodyPr wrap="square">
            <a:spAutoFit/>
          </a:bodyPr>
          <a:lstStyle/>
          <a:p>
            <a:pPr>
              <a:defRPr sz="1500" b="1">
                <a:solidFill>
                  <a:srgbClr val="0284C7"/>
                </a:solidFill>
              </a:defRPr>
            </a:pPr>
            <a:r>
              <a:t>3. Budget-to-Tier Allocation</a:t>
            </a:r>
          </a:p>
          <a:p>
            <a:pPr>
              <a:defRPr sz="1100">
                <a:solidFill>
                  <a:srgbClr val="0F172A"/>
                </a:solidFill>
              </a:defRPr>
            </a:pPr>
            <a:r>
              <a:t>Goal: Practical creator pricing feasibility.</a:t>
            </a:r>
          </a:p>
          <a:p>
            <a:pPr>
              <a:defRPr sz="1100">
                <a:solidFill>
                  <a:srgbClr val="0F172A"/>
                </a:solidFill>
              </a:defRPr>
            </a:pPr>
          </a:p>
          <a:p>
            <a:pPr>
              <a:defRPr sz="1100">
                <a:solidFill>
                  <a:srgbClr val="0F172A"/>
                </a:solidFill>
              </a:defRPr>
            </a:pPr>
            <a:r>
              <a:t>• Influencer Tiers based on subscriber base:</a:t>
            </a:r>
          </a:p>
          <a:p>
            <a:pPr>
              <a:defRPr sz="1100">
                <a:solidFill>
                  <a:srgbClr val="0F172A"/>
                </a:solidFill>
              </a:defRPr>
            </a:pPr>
            <a:r>
              <a:t>   - Nano: &lt; 10,000 subscribers</a:t>
            </a:r>
          </a:p>
          <a:p>
            <a:pPr>
              <a:defRPr sz="1100">
                <a:solidFill>
                  <a:srgbClr val="0F172A"/>
                </a:solidFill>
              </a:defRPr>
            </a:pPr>
            <a:r>
              <a:t>   - Micro: 10,000 – 99,999 subscribers</a:t>
            </a:r>
          </a:p>
          <a:p>
            <a:pPr>
              <a:defRPr sz="1100">
                <a:solidFill>
                  <a:srgbClr val="0F172A"/>
                </a:solidFill>
              </a:defRPr>
            </a:pPr>
            <a:r>
              <a:t>   - Mid: 100,000 – 999,999 subscribers</a:t>
            </a:r>
          </a:p>
          <a:p>
            <a:pPr>
              <a:defRPr sz="1100">
                <a:solidFill>
                  <a:srgbClr val="0F172A"/>
                </a:solidFill>
              </a:defRPr>
            </a:pPr>
            <a:r>
              <a:t>   - Macro: &gt;= 1,000,000 subscribers</a:t>
            </a:r>
          </a:p>
          <a:p>
            <a:pPr>
              <a:defRPr sz="1100">
                <a:solidFill>
                  <a:srgbClr val="0F172A"/>
                </a:solidFill>
              </a:defRPr>
            </a:pPr>
            <a:r>
              <a:t>• Budget filter: Automatically matches campaign budget to eligible tiers, preventing micro-budget campaigns from getting unreachable macro influencers.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Recommendation Logic (Step 2): Sentence-BERT Semantic Matching</a:t>
            </a:r>
          </a:p>
        </p:txBody>
      </p:sp>
      <p:sp>
        <p:nvSpPr>
          <p:cNvPr id="4" name="Rounded Rectangle 3"/>
          <p:cNvSpPr/>
          <p:nvPr/>
        </p:nvSpPr>
        <p:spPr>
          <a:xfrm>
            <a:off x="731520" y="146304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480560"/>
          </a:xfrm>
          <a:prstGeom prst="rect">
            <a:avLst/>
          </a:prstGeom>
          <a:noFill/>
        </p:spPr>
        <p:txBody>
          <a:bodyPr wrap="square">
            <a:spAutoFit/>
          </a:bodyPr>
          <a:lstStyle/>
          <a:p>
            <a:pPr>
              <a:defRPr sz="1500" b="1">
                <a:solidFill>
                  <a:srgbClr val="4F46E5"/>
                </a:solidFill>
              </a:defRPr>
            </a:pPr>
            <a:r>
              <a:t>Sentence-BERT (all-MiniLM-L6-v2)</a:t>
            </a:r>
          </a:p>
          <a:p>
            <a:pPr>
              <a:defRPr sz="1100" b="1">
                <a:solidFill>
                  <a:srgbClr val="0F172A"/>
                </a:solidFill>
              </a:defRPr>
            </a:pPr>
            <a:r>
              <a:t>• Dense Representation: </a:t>
            </a:r>
          </a:p>
          <a:p>
            <a:pPr>
              <a:defRPr sz="1000">
                <a:solidFill>
                  <a:srgbClr val="64748B"/>
                </a:solidFill>
              </a:defRPr>
            </a:pPr>
            <a:r>
              <a:t>   Maps text into a 384-dimensional continuous latent space where semantic proximity equals conceptual similarity.</a:t>
            </a:r>
          </a:p>
          <a:p>
            <a:pPr>
              <a:defRPr sz="1100" b="1">
                <a:solidFill>
                  <a:srgbClr val="0F172A"/>
                </a:solidFill>
              </a:defRPr>
            </a:pPr>
            <a:r>
              <a:t>• Creator Profile Text: </a:t>
            </a:r>
          </a:p>
          <a:p>
            <a:pPr>
              <a:defRPr sz="1000">
                <a:solidFill>
                  <a:srgbClr val="64748B"/>
                </a:solidFill>
              </a:defRPr>
            </a:pPr>
            <a:r>
              <a:t>   Constructed dynamically from creator channel title, niche, channel description, keywords, and latest video titles:</a:t>
            </a:r>
          </a:p>
          <a:p>
            <a:pPr>
              <a:defRPr sz="1100" b="1">
                <a:solidFill>
                  <a:srgbClr val="0F172A"/>
                </a:solidFill>
              </a:defRPr>
            </a:pPr>
            <a:r>
              <a:t>• Profile Text Template: </a:t>
            </a:r>
          </a:p>
          <a:p>
            <a:pPr>
              <a:defRPr sz="1000">
                <a:solidFill>
                  <a:srgbClr val="64748B"/>
                </a:solidFill>
              </a:defRPr>
            </a:pPr>
            <a:r>
              <a:t>   'Channel: {title}\nCategory: {category}\nDescription: {desc}\nVideo topics: {top_videos}\nKeywords: {tags}'</a:t>
            </a:r>
          </a:p>
          <a:p>
            <a:pPr>
              <a:defRPr sz="1100" b="1">
                <a:solidFill>
                  <a:srgbClr val="0F172A"/>
                </a:solidFill>
              </a:defRPr>
            </a:pPr>
            <a:r>
              <a:t>• Precomputed Vectors: </a:t>
            </a:r>
          </a:p>
          <a:p>
            <a:pPr>
              <a:defRPr sz="1000">
                <a:solidFill>
                  <a:srgbClr val="64748B"/>
                </a:solidFill>
              </a:defRPr>
            </a:pPr>
            <a:r>
              <a:t>   All ~1,000+ creators have precomputed embeddings stored in Supabase JSONB, allowing instant lookups without on-the-fly re-encoding.</a:t>
            </a:r>
          </a:p>
        </p:txBody>
      </p:sp>
      <p:sp>
        <p:nvSpPr>
          <p:cNvPr id="6" name="Rounded Rectangle 5"/>
          <p:cNvSpPr/>
          <p:nvPr/>
        </p:nvSpPr>
        <p:spPr>
          <a:xfrm>
            <a:off x="62179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defRPr sz="1500" b="1">
                <a:solidFill>
                  <a:srgbClr val="7C3AED"/>
                </a:solidFill>
              </a:defRPr>
            </a:pPr>
            <a:r>
              <a:t>Cosine Similarity &amp; Matching Mechanics</a:t>
            </a:r>
          </a:p>
          <a:p>
            <a:pPr>
              <a:defRPr sz="1100" b="1">
                <a:solidFill>
                  <a:srgbClr val="0F172A"/>
                </a:solidFill>
              </a:defRPr>
            </a:pPr>
            <a:r>
              <a:t>✔ Vector Cosine Formula: </a:t>
            </a:r>
          </a:p>
          <a:p>
            <a:pPr>
              <a:defRPr sz="1000">
                <a:solidFill>
                  <a:srgbClr val="64748B"/>
                </a:solidFill>
              </a:defRPr>
            </a:pPr>
            <a:r>
              <a:t>   sim(u, v) = (u · v) / (||u|| * ||v||) where u is the encoded campaign brief vector and v is the creator content vector.</a:t>
            </a:r>
          </a:p>
          <a:p>
            <a:pPr>
              <a:defRPr sz="1100" b="1">
                <a:solidFill>
                  <a:srgbClr val="0F172A"/>
                </a:solidFill>
              </a:defRPr>
            </a:pPr>
            <a:r>
              <a:t>✔ Normalized Vectors: </a:t>
            </a:r>
          </a:p>
          <a:p>
            <a:pPr>
              <a:defRPr sz="1000">
                <a:solidFill>
                  <a:srgbClr val="64748B"/>
                </a:solidFill>
              </a:defRPr>
            </a:pPr>
            <a:r>
              <a:t>   Both vectors are L2-normalized so the dot product directly yields cosine similarity in the range [0.0, 1.0].</a:t>
            </a:r>
          </a:p>
          <a:p>
            <a:pPr>
              <a:defRPr sz="1100" b="1">
                <a:solidFill>
                  <a:srgbClr val="0F172A"/>
                </a:solidFill>
              </a:defRPr>
            </a:pPr>
            <a:r>
              <a:t>✔ Why SBERT Beats Keyword Matching: </a:t>
            </a:r>
          </a:p>
          <a:p>
            <a:pPr>
              <a:defRPr sz="1000">
                <a:solidFill>
                  <a:srgbClr val="64748B"/>
                </a:solidFill>
              </a:defRPr>
            </a:pPr>
            <a:r>
              <a:t>   Keyword searches fail on synonyms and nuance. If a campaign asks for 'minimalist wardrobe capsule', SBERT successfully matches creators who discuss 'aesthetic neutral fashion' even if the word 'capsule' never appears.</a:t>
            </a:r>
          </a:p>
          <a:p>
            <a:pPr>
              <a:defRPr sz="1100" b="1">
                <a:solidFill>
                  <a:srgbClr val="0F172A"/>
                </a:solidFill>
              </a:defRPr>
            </a:pPr>
            <a:r>
              <a:t>✔ Performance: </a:t>
            </a:r>
          </a:p>
          <a:p>
            <a:pPr>
              <a:defRPr sz="1000">
                <a:solidFill>
                  <a:srgbClr val="64748B"/>
                </a:solidFill>
              </a:defRPr>
            </a:pPr>
            <a:r>
              <a:t>   Cosine similarity across 1,000 vectors runs in under 4 milliseconds via vectorized NumPy/SciPy operations.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Recommendation Logic (Step 3): Engagement &amp; Audience Scaling</a:t>
            </a:r>
          </a:p>
        </p:txBody>
      </p:sp>
      <p:sp>
        <p:nvSpPr>
          <p:cNvPr id="4" name="Rounded Rectangle 3"/>
          <p:cNvSpPr/>
          <p:nvPr/>
        </p:nvSpPr>
        <p:spPr>
          <a:xfrm>
            <a:off x="731520" y="146304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480560"/>
          </a:xfrm>
          <a:prstGeom prst="rect">
            <a:avLst/>
          </a:prstGeom>
          <a:noFill/>
        </p:spPr>
        <p:txBody>
          <a:bodyPr wrap="square">
            <a:spAutoFit/>
          </a:bodyPr>
          <a:lstStyle/>
          <a:p>
            <a:pPr>
              <a:defRPr sz="1500" b="1">
                <a:solidFill>
                  <a:srgbClr val="0284C7"/>
                </a:solidFill>
              </a:defRPr>
            </a:pPr>
            <a:r>
              <a:t>Engagement Rate Formulation</a:t>
            </a:r>
          </a:p>
          <a:p>
            <a:pPr>
              <a:defRPr sz="1100" b="1">
                <a:solidFill>
                  <a:srgbClr val="0F172A"/>
                </a:solidFill>
              </a:defRPr>
            </a:pPr>
            <a:r>
              <a:t>• Mathematical Definition:</a:t>
            </a:r>
          </a:p>
          <a:p>
            <a:pPr>
              <a:defRPr sz="1000">
                <a:solidFill>
                  <a:srgbClr val="64748B"/>
                </a:solidFill>
              </a:defRPr>
            </a:pPr>
            <a:r>
              <a:t>   ER = (Total Likes + Total Comments) / max(Total Views, 1) across the latest 15 video uploads.</a:t>
            </a:r>
          </a:p>
          <a:p>
            <a:pPr>
              <a:defRPr sz="1100" b="1">
                <a:solidFill>
                  <a:srgbClr val="0F172A"/>
                </a:solidFill>
              </a:defRPr>
            </a:pPr>
            <a:r>
              <a:t>• Why Raw Views Are Deceptive:</a:t>
            </a:r>
          </a:p>
          <a:p>
            <a:pPr>
              <a:defRPr sz="1000">
                <a:solidFill>
                  <a:srgbClr val="64748B"/>
                </a:solidFill>
              </a:defRPr>
            </a:pPr>
            <a:r>
              <a:t>   A channel with 1,000,000 views and 200 comments has low audience attachment. A channel with 50,000 views and 3,500 active comments has high community trust.</a:t>
            </a:r>
          </a:p>
          <a:p>
            <a:pPr>
              <a:defRPr sz="1100" b="1">
                <a:solidFill>
                  <a:srgbClr val="0F172A"/>
                </a:solidFill>
              </a:defRPr>
            </a:pPr>
            <a:r>
              <a:t>• Baseline Imputation:</a:t>
            </a:r>
          </a:p>
          <a:p>
            <a:pPr>
              <a:defRPr sz="1000">
                <a:solidFill>
                  <a:srgbClr val="64748B"/>
                </a:solidFill>
              </a:defRPr>
            </a:pPr>
            <a:r>
              <a:t>   When video data is unavailable during cold-start, a baseline engagement of 4.5% is applied safely.</a:t>
            </a:r>
          </a:p>
        </p:txBody>
      </p:sp>
      <p:sp>
        <p:nvSpPr>
          <p:cNvPr id="6" name="Rounded Rectangle 5"/>
          <p:cNvSpPr/>
          <p:nvPr/>
        </p:nvSpPr>
        <p:spPr>
          <a:xfrm>
            <a:off x="62179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defRPr sz="1500" b="1">
                <a:solidFill>
                  <a:srgbClr val="10B981"/>
                </a:solidFill>
              </a:defRPr>
            </a:pPr>
            <a:r>
              <a:t>Percentile Clipping &amp; Normalization</a:t>
            </a:r>
          </a:p>
          <a:p>
            <a:pPr>
              <a:defRPr sz="1100" b="1">
                <a:solidFill>
                  <a:srgbClr val="0F172A"/>
                </a:solidFill>
              </a:defRPr>
            </a:pPr>
            <a:r>
              <a:t>✔ Outlier Problem:</a:t>
            </a:r>
          </a:p>
          <a:p>
            <a:pPr>
              <a:defRPr sz="1000">
                <a:solidFill>
                  <a:srgbClr val="64748B"/>
                </a:solidFill>
              </a:defRPr>
            </a:pPr>
            <a:r>
              <a:t>   A single viral video with anomalous bots or sensationalist clickbait can artificially skew average engagement to 90%.</a:t>
            </a:r>
          </a:p>
          <a:p>
            <a:pPr>
              <a:defRPr sz="1100" b="1">
                <a:solidFill>
                  <a:srgbClr val="0F172A"/>
                </a:solidFill>
              </a:defRPr>
            </a:pPr>
            <a:r>
              <a:t>✔ Robust Percentile Normalization:</a:t>
            </a:r>
          </a:p>
          <a:p>
            <a:pPr>
              <a:defRPr sz="1000">
                <a:solidFill>
                  <a:srgbClr val="64748B"/>
                </a:solidFill>
              </a:defRPr>
            </a:pPr>
            <a:r>
              <a:t>   Low percentile (Q05) and High percentile (Q95) are calculated across all category candidates:</a:t>
            </a:r>
          </a:p>
          <a:p>
            <a:pPr>
              <a:defRPr sz="1100" b="1">
                <a:solidFill>
                  <a:srgbClr val="0F172A"/>
                </a:solidFill>
              </a:defRPr>
            </a:pPr>
            <a:r>
              <a:t>✔ Formula:</a:t>
            </a:r>
          </a:p>
          <a:p>
            <a:pPr>
              <a:defRPr sz="1000">
                <a:solidFill>
                  <a:srgbClr val="64748B"/>
                </a:solidFill>
              </a:defRPr>
            </a:pPr>
            <a:r>
              <a:t>   Score = (ER.clip(Q05, Q95) - Q05) / (Q95 - Q05), strictly bounded between [0.0, 1.0].</a:t>
            </a:r>
          </a:p>
          <a:p>
            <a:pPr>
              <a:defRPr sz="1100" b="1">
                <a:solidFill>
                  <a:srgbClr val="0F172A"/>
                </a:solidFill>
              </a:defRPr>
            </a:pPr>
            <a:r>
              <a:t>✔ Fair Relative Comparison:</a:t>
            </a:r>
          </a:p>
          <a:p>
            <a:pPr>
              <a:defRPr sz="1000">
                <a:solidFill>
                  <a:srgbClr val="64748B"/>
                </a:solidFill>
              </a:defRPr>
            </a:pPr>
            <a:r>
              <a:t>   Ensures creator scores reflect their relative strength within their specific niche rather than absolute scale.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Recommendation Logic (Step 4): Multi-Objective Ranking Formula</a:t>
            </a:r>
          </a:p>
        </p:txBody>
      </p:sp>
      <p:sp>
        <p:nvSpPr>
          <p:cNvPr id="4" name="Rounded Rectangle 3"/>
          <p:cNvSpPr/>
          <p:nvPr/>
        </p:nvSpPr>
        <p:spPr>
          <a:xfrm>
            <a:off x="731520" y="1463040"/>
            <a:ext cx="10698480" cy="146304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1280160"/>
          </a:xfrm>
          <a:prstGeom prst="rect">
            <a:avLst/>
          </a:prstGeom>
          <a:noFill/>
        </p:spPr>
        <p:txBody>
          <a:bodyPr wrap="none">
            <a:spAutoFit/>
          </a:bodyPr>
          <a:lstStyle/>
          <a:p>
            <a:pPr>
              <a:defRPr sz="1100" b="1">
                <a:solidFill>
                  <a:srgbClr val="94A3B8"/>
                </a:solidFill>
              </a:defRPr>
            </a:pPr>
            <a:r>
              <a:t>THE CORE SCORING EQUATION</a:t>
            </a:r>
          </a:p>
          <a:p>
            <a:pPr>
              <a:defRPr sz="1800" b="1">
                <a:solidFill>
                  <a:srgbClr val="FFFFFF"/>
                </a:solidFill>
              </a:defRPr>
            </a:pPr>
            <a:r>
              <a:t>Final Recommendation Score = (w_semantic × Semantic_Sim) + (w_eng × Engagement_Score)</a:t>
            </a:r>
          </a:p>
          <a:p>
            <a:pPr>
              <a:defRPr sz="1200">
                <a:solidFill>
                  <a:srgbClr val="CBD5E1"/>
                </a:solidFill>
              </a:defRPr>
            </a:pPr>
            <a:r>
              <a:t>Baseline: 70% Semantic Relevance + 30% Verified Audience Engagement  |  Bounded in range [0.0000, 1.0000]</a:t>
            </a:r>
          </a:p>
        </p:txBody>
      </p:sp>
      <p:sp>
        <p:nvSpPr>
          <p:cNvPr id="6" name="Rounded Rectangle 5"/>
          <p:cNvSpPr/>
          <p:nvPr/>
        </p:nvSpPr>
        <p:spPr>
          <a:xfrm>
            <a:off x="731520" y="3108960"/>
            <a:ext cx="342900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291840"/>
            <a:ext cx="3063240" cy="2834640"/>
          </a:xfrm>
          <a:prstGeom prst="rect">
            <a:avLst/>
          </a:prstGeom>
          <a:noFill/>
        </p:spPr>
        <p:txBody>
          <a:bodyPr wrap="square">
            <a:spAutoFit/>
          </a:bodyPr>
          <a:lstStyle/>
          <a:p>
            <a:pPr>
              <a:defRPr sz="1400" b="1">
                <a:solidFill>
                  <a:srgbClr val="4F46E5"/>
                </a:solidFill>
              </a:defRPr>
            </a:pPr>
            <a:r>
              <a:t>Brand Awareness</a:t>
            </a:r>
          </a:p>
          <a:p>
            <a:pPr>
              <a:defRPr sz="1100">
                <a:solidFill>
                  <a:srgbClr val="64748B"/>
                </a:solidFill>
              </a:defRPr>
            </a:pPr>
            <a:r>
              <a:t>Prioritizes maximum semantic fit and broader view scale.</a:t>
            </a:r>
          </a:p>
          <a:p>
            <a:pPr>
              <a:defRPr sz="1000">
                <a:solidFill>
                  <a:srgbClr val="0F172A"/>
                </a:solidFill>
              </a:defRPr>
            </a:pPr>
            <a:r>
              <a:t>• Semantic Weight: 0.70</a:t>
            </a:r>
          </a:p>
          <a:p>
            <a:pPr>
              <a:defRPr sz="1000">
                <a:solidFill>
                  <a:srgbClr val="0F172A"/>
                </a:solidFill>
              </a:defRPr>
            </a:pPr>
            <a:r>
              <a:t>• Engagement Weight: 0.30</a:t>
            </a:r>
          </a:p>
          <a:p>
            <a:pPr>
              <a:defRPr sz="1000">
                <a:solidFill>
                  <a:srgbClr val="0F172A"/>
                </a:solidFill>
              </a:defRPr>
            </a:pPr>
            <a:r>
              <a:t>• Best for product launches, brand exposure, and narrative awareness campaigns.</a:t>
            </a:r>
          </a:p>
        </p:txBody>
      </p:sp>
      <p:sp>
        <p:nvSpPr>
          <p:cNvPr id="8" name="Rounded Rectangle 7"/>
          <p:cNvSpPr/>
          <p:nvPr/>
        </p:nvSpPr>
        <p:spPr>
          <a:xfrm>
            <a:off x="4343400" y="3108960"/>
            <a:ext cx="342900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3291840"/>
            <a:ext cx="3063240" cy="2834640"/>
          </a:xfrm>
          <a:prstGeom prst="rect">
            <a:avLst/>
          </a:prstGeom>
          <a:noFill/>
        </p:spPr>
        <p:txBody>
          <a:bodyPr wrap="square">
            <a:spAutoFit/>
          </a:bodyPr>
          <a:lstStyle/>
          <a:p>
            <a:pPr>
              <a:defRPr sz="1400" b="1">
                <a:solidFill>
                  <a:srgbClr val="7C3AED"/>
                </a:solidFill>
              </a:defRPr>
            </a:pPr>
            <a:r>
              <a:t>High Engagement</a:t>
            </a:r>
          </a:p>
          <a:p>
            <a:pPr>
              <a:defRPr sz="1100">
                <a:solidFill>
                  <a:srgbClr val="64748B"/>
                </a:solidFill>
              </a:defRPr>
            </a:pPr>
            <a:r>
              <a:t>Favors authentic discussions and active community response.</a:t>
            </a:r>
          </a:p>
          <a:p>
            <a:pPr>
              <a:defRPr sz="1000">
                <a:solidFill>
                  <a:srgbClr val="0F172A"/>
                </a:solidFill>
              </a:defRPr>
            </a:pPr>
            <a:r>
              <a:t>• Semantic Weight: 0.60</a:t>
            </a:r>
          </a:p>
          <a:p>
            <a:pPr>
              <a:defRPr sz="1000">
                <a:solidFill>
                  <a:srgbClr val="0F172A"/>
                </a:solidFill>
              </a:defRPr>
            </a:pPr>
            <a:r>
              <a:t>• Engagement Weight: 0.40</a:t>
            </a:r>
          </a:p>
          <a:p>
            <a:pPr>
              <a:defRPr sz="1000">
                <a:solidFill>
                  <a:srgbClr val="0F172A"/>
                </a:solidFill>
              </a:defRPr>
            </a:pPr>
            <a:r>
              <a:t>• Best for product reviews, feedback, unboxings, and community building.</a:t>
            </a:r>
          </a:p>
        </p:txBody>
      </p:sp>
      <p:sp>
        <p:nvSpPr>
          <p:cNvPr id="10" name="Rounded Rectangle 9"/>
          <p:cNvSpPr/>
          <p:nvPr/>
        </p:nvSpPr>
        <p:spPr>
          <a:xfrm>
            <a:off x="7955280" y="3108960"/>
            <a:ext cx="342900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3291840"/>
            <a:ext cx="3063240" cy="2834640"/>
          </a:xfrm>
          <a:prstGeom prst="rect">
            <a:avLst/>
          </a:prstGeom>
          <a:noFill/>
        </p:spPr>
        <p:txBody>
          <a:bodyPr wrap="square">
            <a:spAutoFit/>
          </a:bodyPr>
          <a:lstStyle/>
          <a:p>
            <a:pPr>
              <a:defRPr sz="1400" b="1">
                <a:solidFill>
                  <a:srgbClr val="0284C7"/>
                </a:solidFill>
              </a:defRPr>
            </a:pPr>
            <a:r>
              <a:t>Direct Conversions</a:t>
            </a:r>
          </a:p>
          <a:p>
            <a:pPr>
              <a:defRPr sz="1100">
                <a:solidFill>
                  <a:srgbClr val="64748B"/>
                </a:solidFill>
              </a:defRPr>
            </a:pPr>
            <a:r>
              <a:t>Targets focused niches with high conversion propensity.</a:t>
            </a:r>
          </a:p>
          <a:p>
            <a:pPr>
              <a:defRPr sz="1000">
                <a:solidFill>
                  <a:srgbClr val="0F172A"/>
                </a:solidFill>
              </a:defRPr>
            </a:pPr>
            <a:r>
              <a:t>• Semantic Weight: 0.65</a:t>
            </a:r>
          </a:p>
          <a:p>
            <a:pPr>
              <a:defRPr sz="1000">
                <a:solidFill>
                  <a:srgbClr val="0F172A"/>
                </a:solidFill>
              </a:defRPr>
            </a:pPr>
            <a:r>
              <a:t>• Engagement Weight: 0.35</a:t>
            </a:r>
          </a:p>
          <a:p>
            <a:pPr>
              <a:defRPr sz="1000">
                <a:solidFill>
                  <a:srgbClr val="0F172A"/>
                </a:solidFill>
              </a:defRPr>
            </a:pPr>
            <a:r>
              <a:t>• Best for affiliate marketing, coupon codes, and app install promotions.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recommendation_engine_simple_flowchart.pn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pic>
        <p:nvPicPr>
          <p:cNvPr id="2" name="Picture 1" descr="recommendation_engine_3d_visual.jp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Phase 3 &amp; 4: Registered Channels &amp; Zero N+1 Email Mapping</a:t>
            </a:r>
          </a:p>
        </p:txBody>
      </p:sp>
      <p:sp>
        <p:nvSpPr>
          <p:cNvPr id="4" name="Rounded Rectangle 3"/>
          <p:cNvSpPr/>
          <p:nvPr/>
        </p:nvSpPr>
        <p:spPr>
          <a:xfrm>
            <a:off x="731520" y="146304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480560"/>
          </a:xfrm>
          <a:prstGeom prst="rect">
            <a:avLst/>
          </a:prstGeom>
          <a:noFill/>
        </p:spPr>
        <p:txBody>
          <a:bodyPr wrap="square">
            <a:spAutoFit/>
          </a:bodyPr>
          <a:lstStyle/>
          <a:p>
            <a:pPr>
              <a:defRPr sz="1500" b="1">
                <a:solidFill>
                  <a:srgbClr val="4F46E5"/>
                </a:solidFill>
              </a:defRPr>
            </a:pPr>
            <a:r>
              <a:t>Influencer Registration &amp; Ingestion Flow</a:t>
            </a:r>
          </a:p>
          <a:p>
            <a:pPr>
              <a:defRPr sz="1100" b="1">
                <a:solidFill>
                  <a:srgbClr val="0F172A"/>
                </a:solidFill>
              </a:defRPr>
            </a:pPr>
            <a:r>
              <a:t>• Creator Registration:</a:t>
            </a:r>
          </a:p>
          <a:p>
            <a:pPr>
              <a:defRPr sz="1000">
                <a:solidFill>
                  <a:srgbClr val="64748B"/>
                </a:solidFill>
              </a:defRPr>
            </a:pPr>
            <a:r>
              <a:t>   Creator submits YouTube channel ID, custom URL, or @handle + collaboration email.</a:t>
            </a:r>
          </a:p>
          <a:p>
            <a:pPr>
              <a:defRPr sz="1100" b="1">
                <a:solidFill>
                  <a:srgbClr val="0F172A"/>
                </a:solidFill>
              </a:defRPr>
            </a:pPr>
            <a:r>
              <a:t>• FastAPI Non-Blocking Task:</a:t>
            </a:r>
          </a:p>
          <a:p>
            <a:pPr>
              <a:defRPr sz="1000">
                <a:solidFill>
                  <a:srgbClr val="64748B"/>
                </a:solidFill>
              </a:defRPr>
            </a:pPr>
            <a:r>
              <a:t>   Triggered via FastAPI BackgroundTasks: validates channel with YouTube API, rejects duplicates.</a:t>
            </a:r>
          </a:p>
          <a:p>
            <a:pPr>
              <a:defRPr sz="1100" b="1">
                <a:solidFill>
                  <a:srgbClr val="0F172A"/>
                </a:solidFill>
              </a:defRPr>
            </a:pPr>
            <a:r>
              <a:t>• On-the-Fly SBERT Indexing:</a:t>
            </a:r>
          </a:p>
          <a:p>
            <a:pPr>
              <a:defRPr sz="1000">
                <a:solidFill>
                  <a:srgbClr val="64748B"/>
                </a:solidFill>
              </a:defRPr>
            </a:pPr>
            <a:r>
              <a:t>   Fetches latest 15 videos, computes 384-dim embedding vector, upserts to ml_data.channels, and invalidates in-memory candidate cache.</a:t>
            </a:r>
          </a:p>
          <a:p>
            <a:pPr>
              <a:defRPr sz="1100" b="1">
                <a:solidFill>
                  <a:srgbClr val="0F172A"/>
                </a:solidFill>
              </a:defRPr>
            </a:pPr>
            <a:r>
              <a:t>• Immediate Participation:</a:t>
            </a:r>
          </a:p>
          <a:p>
            <a:pPr>
              <a:defRPr sz="1000">
                <a:solidFill>
                  <a:srgbClr val="64748B"/>
                </a:solidFill>
              </a:defRPr>
            </a:pPr>
            <a:r>
              <a:t>   The registered creator immediately enters the active candidate pool and competes in recommendations without requiring a full model retrain.</a:t>
            </a:r>
          </a:p>
        </p:txBody>
      </p:sp>
      <p:sp>
        <p:nvSpPr>
          <p:cNvPr id="6" name="Rounded Rectangle 5"/>
          <p:cNvSpPr/>
          <p:nvPr/>
        </p:nvSpPr>
        <p:spPr>
          <a:xfrm>
            <a:off x="62179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defRPr sz="1500" b="1">
                <a:solidFill>
                  <a:srgbClr val="7C3AED"/>
                </a:solidFill>
              </a:defRPr>
            </a:pPr>
            <a:r>
              <a:t>Zero N+1 Batched Email Mapping</a:t>
            </a:r>
          </a:p>
          <a:p>
            <a:pPr>
              <a:defRPr sz="1100" b="1">
                <a:solidFill>
                  <a:srgbClr val="0F172A"/>
                </a:solidFill>
              </a:defRPr>
            </a:pPr>
            <a:r>
              <a:t>✔ The Challenge:</a:t>
            </a:r>
          </a:p>
          <a:p>
            <a:pPr>
              <a:defRPr sz="1000">
                <a:solidFill>
                  <a:srgbClr val="64748B"/>
                </a:solidFill>
              </a:defRPr>
            </a:pPr>
            <a:r>
              <a:t>   Avoid firing 10 individual SQL queries for 10 recommended channels (the notorious N+1 query antipattern).</a:t>
            </a:r>
          </a:p>
          <a:p>
            <a:pPr>
              <a:defRPr sz="1100" b="1">
                <a:solidFill>
                  <a:srgbClr val="0F172A"/>
                </a:solidFill>
              </a:defRPr>
            </a:pPr>
            <a:r>
              <a:t>✔ Single Batched Query:</a:t>
            </a:r>
          </a:p>
          <a:p>
            <a:pPr>
              <a:defRPr sz="1000">
                <a:solidFill>
                  <a:srgbClr val="64748B"/>
                </a:solidFill>
              </a:defRPr>
            </a:pPr>
            <a:r>
              <a:t>   SELECT youtube_channel_id, contact_email FROM public.registered_channels_public WHERE youtube_channel_id IN (:top_ids);</a:t>
            </a:r>
          </a:p>
          <a:p>
            <a:pPr>
              <a:defRPr sz="1100" b="1">
                <a:solidFill>
                  <a:srgbClr val="0F172A"/>
                </a:solidFill>
              </a:defRPr>
            </a:pPr>
            <a:r>
              <a:t>✔ Privacy Enforcement:</a:t>
            </a:r>
          </a:p>
          <a:p>
            <a:pPr>
              <a:defRPr sz="1000">
                <a:solidFill>
                  <a:srgbClr val="64748B"/>
                </a:solidFill>
              </a:defRPr>
            </a:pPr>
            <a:r>
              <a:t>   Only channels where show_email_publicly = true appear in the public view. Private emails remain secured.</a:t>
            </a:r>
          </a:p>
          <a:p>
            <a:pPr>
              <a:defRPr sz="1100" b="1">
                <a:solidFill>
                  <a:srgbClr val="0F172A"/>
                </a:solidFill>
              </a:defRPr>
            </a:pPr>
            <a:r>
              <a:t>✔ No Platform Bias:</a:t>
            </a:r>
          </a:p>
          <a:p>
            <a:pPr>
              <a:defRPr sz="1000">
                <a:solidFill>
                  <a:srgbClr val="64748B"/>
                </a:solidFill>
              </a:defRPr>
            </a:pPr>
            <a:r>
              <a:t>   Unregistered channels rank strictly on merit. Registered channels receive direct mailto/copy actions on their card without artificial badges.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Brand User Experience: Complete Journey Flow</a:t>
            </a:r>
          </a:p>
        </p:txBody>
      </p:sp>
      <p:sp>
        <p:nvSpPr>
          <p:cNvPr id="4" name="Rounded Rectangle 3"/>
          <p:cNvSpPr/>
          <p:nvPr/>
        </p:nvSpPr>
        <p:spPr>
          <a:xfrm>
            <a:off x="731520" y="1463040"/>
            <a:ext cx="106984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5.jpg"/>
          <p:cNvPicPr>
            <a:picLocks noChangeAspect="1"/>
          </p:cNvPicPr>
          <p:nvPr/>
        </p:nvPicPr>
        <p:blipFill>
          <a:blip r:embed="rId2"/>
          <a:stretch>
            <a:fillRect/>
          </a:stretch>
        </p:blipFill>
        <p:spPr>
          <a:xfrm>
            <a:off x="914400" y="1600200"/>
            <a:ext cx="10332720" cy="2311946"/>
          </a:xfrm>
          <a:prstGeom prst="rect">
            <a:avLst/>
          </a:prstGeom>
        </p:spPr>
      </p:pic>
      <p:sp>
        <p:nvSpPr>
          <p:cNvPr id="6" name="Rounded Rectangle 5"/>
          <p:cNvSpPr/>
          <p:nvPr/>
        </p:nvSpPr>
        <p:spPr>
          <a:xfrm>
            <a:off x="731520" y="4572000"/>
            <a:ext cx="20574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709160"/>
            <a:ext cx="1874519" cy="1463040"/>
          </a:xfrm>
          <a:prstGeom prst="rect">
            <a:avLst/>
          </a:prstGeom>
          <a:noFill/>
        </p:spPr>
        <p:txBody>
          <a:bodyPr wrap="square">
            <a:spAutoFit/>
          </a:bodyPr>
          <a:lstStyle/>
          <a:p>
            <a:pPr>
              <a:defRPr sz="1100" b="1">
                <a:solidFill>
                  <a:srgbClr val="4F46E5"/>
                </a:solidFill>
              </a:defRPr>
            </a:pPr>
            <a:r>
              <a:t>Step 1: Register</a:t>
            </a:r>
          </a:p>
          <a:p>
            <a:pPr>
              <a:defRPr sz="1000">
                <a:solidFill>
                  <a:srgbClr val="64748B"/>
                </a:solidFill>
              </a:defRPr>
            </a:pPr>
            <a:r>
              <a:t>Brand creates account via Supabase Auth with company metadata.</a:t>
            </a:r>
          </a:p>
        </p:txBody>
      </p:sp>
      <p:sp>
        <p:nvSpPr>
          <p:cNvPr id="8" name="Rounded Rectangle 7"/>
          <p:cNvSpPr/>
          <p:nvPr/>
        </p:nvSpPr>
        <p:spPr>
          <a:xfrm>
            <a:off x="2907791" y="4572000"/>
            <a:ext cx="20574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99231" y="4709160"/>
            <a:ext cx="1874519" cy="1463040"/>
          </a:xfrm>
          <a:prstGeom prst="rect">
            <a:avLst/>
          </a:prstGeom>
          <a:noFill/>
        </p:spPr>
        <p:txBody>
          <a:bodyPr wrap="square">
            <a:spAutoFit/>
          </a:bodyPr>
          <a:lstStyle/>
          <a:p>
            <a:pPr>
              <a:defRPr sz="1100" b="1">
                <a:solidFill>
                  <a:srgbClr val="7C3AED"/>
                </a:solidFill>
              </a:defRPr>
            </a:pPr>
            <a:r>
              <a:t>Step 2: Authenticate</a:t>
            </a:r>
          </a:p>
          <a:p>
            <a:pPr>
              <a:defRPr sz="1000">
                <a:solidFill>
                  <a:srgbClr val="64748B"/>
                </a:solidFill>
              </a:defRPr>
            </a:pPr>
            <a:r>
              <a:t>Secure login with JWT persistence and ProtectedRoute guard.</a:t>
            </a:r>
          </a:p>
        </p:txBody>
      </p:sp>
      <p:sp>
        <p:nvSpPr>
          <p:cNvPr id="10" name="Rounded Rectangle 9"/>
          <p:cNvSpPr/>
          <p:nvPr/>
        </p:nvSpPr>
        <p:spPr>
          <a:xfrm>
            <a:off x="5084064" y="4572000"/>
            <a:ext cx="20574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75504" y="4709160"/>
            <a:ext cx="1874519" cy="1463040"/>
          </a:xfrm>
          <a:prstGeom prst="rect">
            <a:avLst/>
          </a:prstGeom>
          <a:noFill/>
        </p:spPr>
        <p:txBody>
          <a:bodyPr wrap="square">
            <a:spAutoFit/>
          </a:bodyPr>
          <a:lstStyle/>
          <a:p>
            <a:pPr>
              <a:defRPr sz="1100" b="1">
                <a:solidFill>
                  <a:srgbClr val="0284C7"/>
                </a:solidFill>
              </a:defRPr>
            </a:pPr>
            <a:r>
              <a:t>Step 3: Brand Profile</a:t>
            </a:r>
          </a:p>
          <a:p>
            <a:pPr>
              <a:defRPr sz="1000">
                <a:solidFill>
                  <a:srgbClr val="64748B"/>
                </a:solidFill>
              </a:defRPr>
            </a:pPr>
            <a:r>
              <a:t>Configures industry niche, website, state, and company context.</a:t>
            </a:r>
          </a:p>
        </p:txBody>
      </p:sp>
      <p:sp>
        <p:nvSpPr>
          <p:cNvPr id="12" name="Rounded Rectangle 11"/>
          <p:cNvSpPr/>
          <p:nvPr/>
        </p:nvSpPr>
        <p:spPr>
          <a:xfrm>
            <a:off x="7260336" y="4572000"/>
            <a:ext cx="20574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51776" y="4709160"/>
            <a:ext cx="1874519" cy="1463040"/>
          </a:xfrm>
          <a:prstGeom prst="rect">
            <a:avLst/>
          </a:prstGeom>
          <a:noFill/>
        </p:spPr>
        <p:txBody>
          <a:bodyPr wrap="square">
            <a:spAutoFit/>
          </a:bodyPr>
          <a:lstStyle/>
          <a:p>
            <a:pPr>
              <a:defRPr sz="1100" b="1">
                <a:solidFill>
                  <a:srgbClr val="10B981"/>
                </a:solidFill>
              </a:defRPr>
            </a:pPr>
            <a:r>
              <a:t>Step 4: Campaign Input</a:t>
            </a:r>
          </a:p>
          <a:p>
            <a:pPr>
              <a:defRPr sz="1000">
                <a:solidFill>
                  <a:srgbClr val="64748B"/>
                </a:solidFill>
              </a:defRPr>
            </a:pPr>
            <a:r>
              <a:t>Defines budget, category, country, goal, and brief text.</a:t>
            </a:r>
          </a:p>
        </p:txBody>
      </p:sp>
      <p:sp>
        <p:nvSpPr>
          <p:cNvPr id="14" name="Rounded Rectangle 13"/>
          <p:cNvSpPr/>
          <p:nvPr/>
        </p:nvSpPr>
        <p:spPr>
          <a:xfrm>
            <a:off x="9436608" y="4572000"/>
            <a:ext cx="2057400" cy="17373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28048" y="4709160"/>
            <a:ext cx="1874519" cy="1463040"/>
          </a:xfrm>
          <a:prstGeom prst="rect">
            <a:avLst/>
          </a:prstGeom>
          <a:noFill/>
        </p:spPr>
        <p:txBody>
          <a:bodyPr wrap="square">
            <a:spAutoFit/>
          </a:bodyPr>
          <a:lstStyle/>
          <a:p>
            <a:pPr>
              <a:defRPr sz="1100" b="1">
                <a:solidFill>
                  <a:srgbClr val="4F46E5"/>
                </a:solidFill>
              </a:defRPr>
            </a:pPr>
            <a:r>
              <a:t>Step 5: Recommendations</a:t>
            </a:r>
          </a:p>
          <a:p>
            <a:pPr>
              <a:defRPr sz="1000">
                <a:solidFill>
                  <a:srgbClr val="64748B"/>
                </a:solidFill>
              </a:defRPr>
            </a:pPr>
            <a:r>
              <a:t>Receives ranked creator cards with direct email contact.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Platform Interface Showcase: React + Material-UI Frontend</a:t>
            </a:r>
          </a:p>
        </p:txBody>
      </p:sp>
      <p:sp>
        <p:nvSpPr>
          <p:cNvPr id="4" name="Rounded Rectangle 3"/>
          <p:cNvSpPr/>
          <p:nvPr/>
        </p:nvSpPr>
        <p:spPr>
          <a:xfrm>
            <a:off x="73152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2.jpg"/>
          <p:cNvPicPr>
            <a:picLocks noChangeAspect="1"/>
          </p:cNvPicPr>
          <p:nvPr/>
        </p:nvPicPr>
        <p:blipFill>
          <a:blip r:embed="rId2"/>
          <a:stretch>
            <a:fillRect/>
          </a:stretch>
        </p:blipFill>
        <p:spPr>
          <a:xfrm>
            <a:off x="914400" y="1645920"/>
            <a:ext cx="3063240" cy="1719243"/>
          </a:xfrm>
          <a:prstGeom prst="rect">
            <a:avLst/>
          </a:prstGeom>
        </p:spPr>
      </p:pic>
      <p:sp>
        <p:nvSpPr>
          <p:cNvPr id="6" name="TextBox 5"/>
          <p:cNvSpPr txBox="1"/>
          <p:nvPr/>
        </p:nvSpPr>
        <p:spPr>
          <a:xfrm>
            <a:off x="914400" y="4937760"/>
            <a:ext cx="3063240" cy="1280160"/>
          </a:xfrm>
          <a:prstGeom prst="rect">
            <a:avLst/>
          </a:prstGeom>
          <a:noFill/>
        </p:spPr>
        <p:txBody>
          <a:bodyPr wrap="square">
            <a:spAutoFit/>
          </a:bodyPr>
          <a:lstStyle/>
          <a:p>
            <a:pPr>
              <a:defRPr sz="1200" b="1">
                <a:solidFill>
                  <a:srgbClr val="4F46E5"/>
                </a:solidFill>
              </a:defRPr>
            </a:pPr>
            <a:r>
              <a:t>Landing &amp; Value Proposition</a:t>
            </a:r>
          </a:p>
          <a:p>
            <a:pPr>
              <a:defRPr sz="1000">
                <a:solidFill>
                  <a:srgbClr val="64748B"/>
                </a:solidFill>
              </a:defRPr>
            </a:pPr>
            <a:r>
              <a:t>Clean hero section introducing semantic influencer intelligence.</a:t>
            </a:r>
          </a:p>
        </p:txBody>
      </p:sp>
      <p:sp>
        <p:nvSpPr>
          <p:cNvPr id="7" name="Rounded Rectangle 6"/>
          <p:cNvSpPr/>
          <p:nvPr/>
        </p:nvSpPr>
        <p:spPr>
          <a:xfrm>
            <a:off x="434340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4.jpg"/>
          <p:cNvPicPr>
            <a:picLocks noChangeAspect="1"/>
          </p:cNvPicPr>
          <p:nvPr/>
        </p:nvPicPr>
        <p:blipFill>
          <a:blip r:embed="rId3"/>
          <a:stretch>
            <a:fillRect/>
          </a:stretch>
        </p:blipFill>
        <p:spPr>
          <a:xfrm>
            <a:off x="4526280" y="1645920"/>
            <a:ext cx="3063240" cy="1721158"/>
          </a:xfrm>
          <a:prstGeom prst="rect">
            <a:avLst/>
          </a:prstGeom>
        </p:spPr>
      </p:pic>
      <p:sp>
        <p:nvSpPr>
          <p:cNvPr id="9" name="TextBox 8"/>
          <p:cNvSpPr txBox="1"/>
          <p:nvPr/>
        </p:nvSpPr>
        <p:spPr>
          <a:xfrm>
            <a:off x="4526280" y="4937760"/>
            <a:ext cx="3063240" cy="1280160"/>
          </a:xfrm>
          <a:prstGeom prst="rect">
            <a:avLst/>
          </a:prstGeom>
          <a:noFill/>
        </p:spPr>
        <p:txBody>
          <a:bodyPr wrap="square">
            <a:spAutoFit/>
          </a:bodyPr>
          <a:lstStyle/>
          <a:p>
            <a:pPr>
              <a:defRPr sz="1200" b="1">
                <a:solidFill>
                  <a:srgbClr val="4F46E5"/>
                </a:solidFill>
              </a:defRPr>
            </a:pPr>
            <a:r>
              <a:t>Secure Supabase Authentication</a:t>
            </a:r>
          </a:p>
          <a:p>
            <a:pPr>
              <a:defRPr sz="1000">
                <a:solidFill>
                  <a:srgbClr val="64748B"/>
                </a:solidFill>
              </a:defRPr>
            </a:pPr>
            <a:r>
              <a:t>Dual-role authentication supporting Brand Partners and Creators.</a:t>
            </a:r>
          </a:p>
        </p:txBody>
      </p:sp>
      <p:sp>
        <p:nvSpPr>
          <p:cNvPr id="10" name="Rounded Rectangle 9"/>
          <p:cNvSpPr/>
          <p:nvPr/>
        </p:nvSpPr>
        <p:spPr>
          <a:xfrm>
            <a:off x="795528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3.jpg"/>
          <p:cNvPicPr>
            <a:picLocks noChangeAspect="1"/>
          </p:cNvPicPr>
          <p:nvPr/>
        </p:nvPicPr>
        <p:blipFill>
          <a:blip r:embed="rId4"/>
          <a:stretch>
            <a:fillRect/>
          </a:stretch>
        </p:blipFill>
        <p:spPr>
          <a:xfrm>
            <a:off x="8138160" y="1645920"/>
            <a:ext cx="3063240" cy="1721158"/>
          </a:xfrm>
          <a:prstGeom prst="rect">
            <a:avLst/>
          </a:prstGeom>
        </p:spPr>
      </p:pic>
      <p:sp>
        <p:nvSpPr>
          <p:cNvPr id="12" name="TextBox 11"/>
          <p:cNvSpPr txBox="1"/>
          <p:nvPr/>
        </p:nvSpPr>
        <p:spPr>
          <a:xfrm>
            <a:off x="8138160" y="4937760"/>
            <a:ext cx="3063240" cy="1280160"/>
          </a:xfrm>
          <a:prstGeom prst="rect">
            <a:avLst/>
          </a:prstGeom>
          <a:noFill/>
        </p:spPr>
        <p:txBody>
          <a:bodyPr wrap="square">
            <a:spAutoFit/>
          </a:bodyPr>
          <a:lstStyle/>
          <a:p>
            <a:pPr>
              <a:defRPr sz="1200" b="1">
                <a:solidFill>
                  <a:srgbClr val="4F46E5"/>
                </a:solidFill>
              </a:defRPr>
            </a:pPr>
            <a:r>
              <a:t>Campaign Creation Dashboard</a:t>
            </a:r>
          </a:p>
          <a:p>
            <a:pPr>
              <a:defRPr sz="1000">
                <a:solidFill>
                  <a:srgbClr val="64748B"/>
                </a:solidFill>
              </a:defRPr>
            </a:pPr>
            <a:r>
              <a:t>Intuitive input matrix for category, budget, location, and brief.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Explainable AI: Why Was This Creator Recommended?</a:t>
            </a:r>
          </a:p>
        </p:txBody>
      </p:sp>
      <p:sp>
        <p:nvSpPr>
          <p:cNvPr id="4" name="Rounded Rectangle 3"/>
          <p:cNvSpPr/>
          <p:nvPr/>
        </p:nvSpPr>
        <p:spPr>
          <a:xfrm>
            <a:off x="731520" y="146304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892040" cy="1874519"/>
          </a:xfrm>
          <a:prstGeom prst="rect">
            <a:avLst/>
          </a:prstGeom>
          <a:noFill/>
        </p:spPr>
        <p:txBody>
          <a:bodyPr wrap="square">
            <a:spAutoFit/>
          </a:bodyPr>
          <a:lstStyle/>
          <a:p>
            <a:pPr>
              <a:defRPr sz="1300" b="1">
                <a:solidFill>
                  <a:srgbClr val="4F46E5"/>
                </a:solidFill>
              </a:defRPr>
            </a:pPr>
            <a:r>
              <a:t>Semantic Match Breakdown</a:t>
            </a:r>
          </a:p>
          <a:p>
            <a:pPr>
              <a:defRPr sz="1100">
                <a:solidFill>
                  <a:srgbClr val="0F172A"/>
                </a:solidFill>
              </a:defRPr>
            </a:pPr>
            <a:r>
              <a:t>• Displays exact semantic similarity percentage (e.g. 84% Match).</a:t>
            </a:r>
          </a:p>
          <a:p>
            <a:pPr>
              <a:defRPr sz="1100">
                <a:solidFill>
                  <a:srgbClr val="0F172A"/>
                </a:solidFill>
              </a:defRPr>
            </a:pPr>
            <a:r>
              <a:t>• Explains the contextual connection between creator's recent video themes and campaign keywords.</a:t>
            </a:r>
          </a:p>
          <a:p>
            <a:pPr>
              <a:defRPr sz="1100">
                <a:solidFill>
                  <a:srgbClr val="0F172A"/>
                </a:solidFill>
              </a:defRPr>
            </a:pPr>
            <a:r>
              <a:t>• Eliminates 'black-box' recommendations so marketing teams understand the match rationale.</a:t>
            </a:r>
          </a:p>
        </p:txBody>
      </p:sp>
      <p:sp>
        <p:nvSpPr>
          <p:cNvPr id="6" name="Rounded Rectangle 5"/>
          <p:cNvSpPr/>
          <p:nvPr/>
        </p:nvSpPr>
        <p:spPr>
          <a:xfrm>
            <a:off x="6172200" y="146304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55080" y="1645920"/>
            <a:ext cx="4892040" cy="1874519"/>
          </a:xfrm>
          <a:prstGeom prst="rect">
            <a:avLst/>
          </a:prstGeom>
          <a:noFill/>
        </p:spPr>
        <p:txBody>
          <a:bodyPr wrap="square">
            <a:spAutoFit/>
          </a:bodyPr>
          <a:lstStyle/>
          <a:p>
            <a:pPr>
              <a:defRPr sz="1300" b="1">
                <a:solidFill>
                  <a:srgbClr val="7C3AED"/>
                </a:solidFill>
              </a:defRPr>
            </a:pPr>
            <a:r>
              <a:t>Engagement Quality Index</a:t>
            </a:r>
          </a:p>
          <a:p>
            <a:pPr>
              <a:defRPr sz="1100">
                <a:solidFill>
                  <a:srgbClr val="0F172A"/>
                </a:solidFill>
              </a:defRPr>
            </a:pPr>
            <a:r>
              <a:t>• Transparently reports audience engagement rate (e.g. 4.82% ER).</a:t>
            </a:r>
          </a:p>
          <a:p>
            <a:pPr>
              <a:defRPr sz="1100">
                <a:solidFill>
                  <a:srgbClr val="0F172A"/>
                </a:solidFill>
              </a:defRPr>
            </a:pPr>
            <a:r>
              <a:t>• Shows normalized percentile ranking within their specific category.</a:t>
            </a:r>
          </a:p>
          <a:p>
            <a:pPr>
              <a:defRPr sz="1100">
                <a:solidFill>
                  <a:srgbClr val="0F172A"/>
                </a:solidFill>
              </a:defRPr>
            </a:pPr>
            <a:r>
              <a:t>• Verifies active recent viewership rather than dormant historical follower counts.</a:t>
            </a:r>
          </a:p>
        </p:txBody>
      </p:sp>
      <p:sp>
        <p:nvSpPr>
          <p:cNvPr id="8" name="Rounded Rectangle 7"/>
          <p:cNvSpPr/>
          <p:nvPr/>
        </p:nvSpPr>
        <p:spPr>
          <a:xfrm>
            <a:off x="731520" y="3931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114800"/>
            <a:ext cx="4892040" cy="1874519"/>
          </a:xfrm>
          <a:prstGeom prst="rect">
            <a:avLst/>
          </a:prstGeom>
          <a:noFill/>
        </p:spPr>
        <p:txBody>
          <a:bodyPr wrap="square">
            <a:spAutoFit/>
          </a:bodyPr>
          <a:lstStyle/>
          <a:p>
            <a:pPr>
              <a:defRPr sz="1300" b="1">
                <a:solidFill>
                  <a:srgbClr val="0284C7"/>
                </a:solidFill>
              </a:defRPr>
            </a:pPr>
            <a:r>
              <a:t>Budget &amp; Creator Collab Fit</a:t>
            </a:r>
          </a:p>
          <a:p>
            <a:pPr>
              <a:defRPr sz="1100">
                <a:solidFill>
                  <a:srgbClr val="0F172A"/>
                </a:solidFill>
              </a:defRPr>
            </a:pPr>
            <a:r>
              <a:t>• Estimated collaboration cost calculated via standard Indian market formulas.</a:t>
            </a:r>
          </a:p>
          <a:p>
            <a:pPr>
              <a:defRPr sz="1100">
                <a:solidFill>
                  <a:srgbClr val="0F172A"/>
                </a:solidFill>
              </a:defRPr>
            </a:pPr>
            <a:r>
              <a:t>• Tier classification (Nano, Micro, Mid, Macro) explicitly identified.</a:t>
            </a:r>
          </a:p>
          <a:p>
            <a:pPr>
              <a:defRPr sz="1100">
                <a:solidFill>
                  <a:srgbClr val="0F172A"/>
                </a:solidFill>
              </a:defRPr>
            </a:pPr>
            <a:r>
              <a:t>• Confirms whether creator fee fits comfortably within campaign budget.</a:t>
            </a:r>
          </a:p>
        </p:txBody>
      </p:sp>
      <p:sp>
        <p:nvSpPr>
          <p:cNvPr id="10" name="Rounded Rectangle 9"/>
          <p:cNvSpPr/>
          <p:nvPr/>
        </p:nvSpPr>
        <p:spPr>
          <a:xfrm>
            <a:off x="6172200" y="3931920"/>
            <a:ext cx="5257800" cy="2240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4114800"/>
            <a:ext cx="4892040" cy="1874519"/>
          </a:xfrm>
          <a:prstGeom prst="rect">
            <a:avLst/>
          </a:prstGeom>
          <a:noFill/>
        </p:spPr>
        <p:txBody>
          <a:bodyPr wrap="square">
            <a:spAutoFit/>
          </a:bodyPr>
          <a:lstStyle/>
          <a:p>
            <a:pPr>
              <a:defRPr sz="1300" b="1">
                <a:solidFill>
                  <a:srgbClr val="10B981"/>
                </a:solidFill>
              </a:defRPr>
            </a:pPr>
            <a:r>
              <a:t>Direct Contact Action</a:t>
            </a:r>
          </a:p>
          <a:p>
            <a:pPr>
              <a:defRPr sz="1100">
                <a:solidFill>
                  <a:srgbClr val="0F172A"/>
                </a:solidFill>
              </a:defRPr>
            </a:pPr>
            <a:r>
              <a:t>• For registered platform creators, the contact email is displayed with 1-click mailto: and copy actions.</a:t>
            </a:r>
          </a:p>
          <a:p>
            <a:pPr>
              <a:defRPr sz="1100">
                <a:solidFill>
                  <a:srgbClr val="0F172A"/>
                </a:solidFill>
              </a:defRPr>
            </a:pPr>
            <a:r>
              <a:t>• Zero middleman commission: brands contact creators directly.</a:t>
            </a:r>
          </a:p>
          <a:p>
            <a:pPr>
              <a:defRPr sz="1100">
                <a:solidFill>
                  <a:srgbClr val="0F172A"/>
                </a:solidFill>
              </a:defRPr>
            </a:pPr>
            <a:r>
              <a:t>• Unregistered creators show YouTube channel links for manual outreach.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Project Work Distribution &amp; Current Progress</a:t>
            </a:r>
          </a:p>
        </p:txBody>
      </p:sp>
      <p:sp>
        <p:nvSpPr>
          <p:cNvPr id="4" name="Rounded Rectangle 3"/>
          <p:cNvSpPr/>
          <p:nvPr/>
        </p:nvSpPr>
        <p:spPr>
          <a:xfrm>
            <a:off x="73152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63240" cy="4480560"/>
          </a:xfrm>
          <a:prstGeom prst="rect">
            <a:avLst/>
          </a:prstGeom>
          <a:noFill/>
        </p:spPr>
        <p:txBody>
          <a:bodyPr wrap="square">
            <a:spAutoFit/>
          </a:bodyPr>
          <a:lstStyle/>
          <a:p>
            <a:pPr>
              <a:defRPr sz="1300" b="1">
                <a:solidFill>
                  <a:srgbClr val="4F46E5"/>
                </a:solidFill>
              </a:defRPr>
            </a:pPr>
            <a:r>
              <a:t>Yashvi Bhadani (24DIT004)</a:t>
            </a:r>
          </a:p>
          <a:p>
            <a:pPr>
              <a:defRPr sz="900" b="1">
                <a:solidFill>
                  <a:srgbClr val="64748B"/>
                </a:solidFill>
              </a:defRPr>
            </a:pPr>
            <a:r>
              <a:t>DATA ENGINEERING &amp; PIPELINE</a:t>
            </a:r>
          </a:p>
          <a:p>
            <a:pPr>
              <a:defRPr sz="1100">
                <a:solidFill>
                  <a:srgbClr val="0F172A"/>
                </a:solidFill>
              </a:defRPr>
            </a:pPr>
            <a:r>
              <a:t>✔ YouTube Data API v3 integration pipeline</a:t>
            </a:r>
          </a:p>
          <a:p>
            <a:pPr>
              <a:defRPr sz="1100">
                <a:solidFill>
                  <a:srgbClr val="0F172A"/>
                </a:solidFill>
              </a:defRPr>
            </a:pPr>
            <a:r>
              <a:t>✔ Ingested 2,000+ channels and 2,841+ videos</a:t>
            </a:r>
          </a:p>
          <a:p>
            <a:pPr>
              <a:defRPr sz="1100">
                <a:solidFill>
                  <a:srgbClr val="0F172A"/>
                </a:solidFill>
              </a:defRPr>
            </a:pPr>
            <a:r>
              <a:t>✔ MongoDB raw layer architecture &amp; schemas</a:t>
            </a:r>
          </a:p>
          <a:p>
            <a:pPr>
              <a:defRPr sz="1100">
                <a:solidFill>
                  <a:srgbClr val="0F172A"/>
                </a:solidFill>
              </a:defRPr>
            </a:pPr>
            <a:r>
              <a:t>✔ Automated background ingestion tasks</a:t>
            </a:r>
          </a:p>
          <a:p>
            <a:pPr>
              <a:defRPr sz="1100">
                <a:solidFill>
                  <a:srgbClr val="0F172A"/>
                </a:solidFill>
              </a:defRPr>
            </a:pPr>
            <a:r>
              <a:t>→ Feature engineering &amp; data hygiene</a:t>
            </a:r>
          </a:p>
        </p:txBody>
      </p:sp>
      <p:sp>
        <p:nvSpPr>
          <p:cNvPr id="6" name="Rounded Rectangle 5"/>
          <p:cNvSpPr/>
          <p:nvPr/>
        </p:nvSpPr>
        <p:spPr>
          <a:xfrm>
            <a:off x="434340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26280" y="1645920"/>
            <a:ext cx="3063240" cy="4480560"/>
          </a:xfrm>
          <a:prstGeom prst="rect">
            <a:avLst/>
          </a:prstGeom>
          <a:noFill/>
        </p:spPr>
        <p:txBody>
          <a:bodyPr wrap="square">
            <a:spAutoFit/>
          </a:bodyPr>
          <a:lstStyle/>
          <a:p>
            <a:pPr>
              <a:defRPr sz="1300" b="1">
                <a:solidFill>
                  <a:srgbClr val="7C3AED"/>
                </a:solidFill>
              </a:defRPr>
            </a:pPr>
            <a:r>
              <a:t>Shivansh (24DIT014)</a:t>
            </a:r>
          </a:p>
          <a:p>
            <a:pPr>
              <a:defRPr sz="900" b="1">
                <a:solidFill>
                  <a:srgbClr val="64748B"/>
                </a:solidFill>
              </a:defRPr>
            </a:pPr>
            <a:r>
              <a:t>UI/UX &amp; NLP ENGINE</a:t>
            </a:r>
          </a:p>
          <a:p>
            <a:pPr>
              <a:defRPr sz="1100">
                <a:solidFill>
                  <a:srgbClr val="0F172A"/>
                </a:solidFill>
              </a:defRPr>
            </a:pPr>
            <a:r>
              <a:t>✔ Complete Figma design system &amp; layouts</a:t>
            </a:r>
          </a:p>
          <a:p>
            <a:pPr>
              <a:defRPr sz="1100">
                <a:solidFill>
                  <a:srgbClr val="0F172A"/>
                </a:solidFill>
              </a:defRPr>
            </a:pPr>
            <a:r>
              <a:t>✔ React 19 + MUI responsive application</a:t>
            </a:r>
          </a:p>
          <a:p>
            <a:pPr>
              <a:defRPr sz="1100">
                <a:solidFill>
                  <a:srgbClr val="0F172A"/>
                </a:solidFill>
              </a:defRPr>
            </a:pPr>
            <a:r>
              <a:t>✔ Sentence-BERT all-MiniLM-L6-v2 integration</a:t>
            </a:r>
          </a:p>
          <a:p>
            <a:pPr>
              <a:defRPr sz="1100">
                <a:solidFill>
                  <a:srgbClr val="0F172A"/>
                </a:solidFill>
              </a:defRPr>
            </a:pPr>
            <a:r>
              <a:t>✔ Cosine similarity tensor calculation</a:t>
            </a:r>
          </a:p>
          <a:p>
            <a:pPr>
              <a:defRPr sz="1100">
                <a:solidFill>
                  <a:srgbClr val="0F172A"/>
                </a:solidFill>
              </a:defRPr>
            </a:pPr>
            <a:r>
              <a:t>→ Graph network modeling &amp; visualization</a:t>
            </a:r>
          </a:p>
        </p:txBody>
      </p:sp>
      <p:sp>
        <p:nvSpPr>
          <p:cNvPr id="8" name="Rounded Rectangle 7"/>
          <p:cNvSpPr/>
          <p:nvPr/>
        </p:nvSpPr>
        <p:spPr>
          <a:xfrm>
            <a:off x="7955280" y="1463040"/>
            <a:ext cx="342900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138160" y="1645920"/>
            <a:ext cx="3063240" cy="4480560"/>
          </a:xfrm>
          <a:prstGeom prst="rect">
            <a:avLst/>
          </a:prstGeom>
          <a:noFill/>
        </p:spPr>
        <p:txBody>
          <a:bodyPr wrap="square">
            <a:spAutoFit/>
          </a:bodyPr>
          <a:lstStyle/>
          <a:p>
            <a:pPr>
              <a:defRPr sz="1300" b="1">
                <a:solidFill>
                  <a:srgbClr val="0284C7"/>
                </a:solidFill>
              </a:defRPr>
            </a:pPr>
            <a:r>
              <a:t>Astha Makwana (24DIT030)</a:t>
            </a:r>
          </a:p>
          <a:p>
            <a:pPr>
              <a:defRPr sz="900" b="1">
                <a:solidFill>
                  <a:srgbClr val="64748B"/>
                </a:solidFill>
              </a:defRPr>
            </a:pPr>
            <a:r>
              <a:t>SUPABASE DATABASE &amp; ML PREP</a:t>
            </a:r>
          </a:p>
          <a:p>
            <a:pPr>
              <a:defRPr sz="1100">
                <a:solidFill>
                  <a:srgbClr val="0F172A"/>
                </a:solidFill>
              </a:defRPr>
            </a:pPr>
            <a:r>
              <a:t>✔ Supabase PostgreSQL relational schemas</a:t>
            </a:r>
          </a:p>
          <a:p>
            <a:pPr>
              <a:defRPr sz="1100">
                <a:solidFill>
                  <a:srgbClr val="0F172A"/>
                </a:solidFill>
              </a:defRPr>
            </a:pPr>
            <a:r>
              <a:t>✔ Client &amp; Server Supabase Auth (JWT Bearer)</a:t>
            </a:r>
          </a:p>
          <a:p>
            <a:pPr>
              <a:defRPr sz="1100">
                <a:solidFill>
                  <a:srgbClr val="0F172A"/>
                </a:solidFill>
              </a:defRPr>
            </a:pPr>
            <a:r>
              <a:t>✔ Row-Level Security (RLS) &amp; Public Views</a:t>
            </a:r>
          </a:p>
          <a:p>
            <a:pPr>
              <a:defRPr sz="1100">
                <a:solidFill>
                  <a:srgbClr val="0F172A"/>
                </a:solidFill>
              </a:defRPr>
            </a:pPr>
            <a:r>
              <a:t>✔ registered_channels table &amp; Zero N+1 query</a:t>
            </a:r>
          </a:p>
          <a:p>
            <a:pPr>
              <a:defRPr sz="1100">
                <a:solidFill>
                  <a:srgbClr val="0F172A"/>
                </a:solidFill>
              </a:defRPr>
            </a:pPr>
            <a:r>
              <a:t>→ Model tuning &amp; offline ranking evaluation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698480" cy="365760"/>
          </a:xfrm>
          <a:prstGeom prst="rect">
            <a:avLst/>
          </a:prstGeom>
          <a:noFill/>
        </p:spPr>
        <p:txBody>
          <a:bodyPr wrap="square">
            <a:spAutoFit/>
          </a:bodyPr>
          <a:lstStyle/>
          <a:p>
            <a:pPr>
              <a:defRPr sz="1000" b="1">
                <a:solidFill>
                  <a:srgbClr val="4F46E5"/>
                </a:solidFill>
              </a:defRPr>
            </a:pPr>
            <a:r>
              <a:t>INFLUENCEAI — AI-POWERED RECOMMENDATION SYSTEM</a:t>
            </a:r>
          </a:p>
        </p:txBody>
      </p:sp>
      <p:sp>
        <p:nvSpPr>
          <p:cNvPr id="3" name="TextBox 2"/>
          <p:cNvSpPr txBox="1"/>
          <p:nvPr/>
        </p:nvSpPr>
        <p:spPr>
          <a:xfrm>
            <a:off x="731520" y="640080"/>
            <a:ext cx="10698480" cy="731520"/>
          </a:xfrm>
          <a:prstGeom prst="rect">
            <a:avLst/>
          </a:prstGeom>
          <a:noFill/>
        </p:spPr>
        <p:txBody>
          <a:bodyPr wrap="square">
            <a:spAutoFit/>
          </a:bodyPr>
          <a:lstStyle/>
          <a:p>
            <a:pPr>
              <a:defRPr sz="2200" b="1">
                <a:solidFill>
                  <a:srgbClr val="0F172A"/>
                </a:solidFill>
              </a:defRPr>
            </a:pPr>
            <a:r>
              <a:t>Current Implementation Status &amp; Future Roadmap</a:t>
            </a:r>
          </a:p>
        </p:txBody>
      </p:sp>
      <p:sp>
        <p:nvSpPr>
          <p:cNvPr id="4" name="Rounded Rectangle 3"/>
          <p:cNvSpPr/>
          <p:nvPr/>
        </p:nvSpPr>
        <p:spPr>
          <a:xfrm>
            <a:off x="731520" y="1463040"/>
            <a:ext cx="512064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480560"/>
          </a:xfrm>
          <a:prstGeom prst="rect">
            <a:avLst/>
          </a:prstGeom>
          <a:noFill/>
        </p:spPr>
        <p:txBody>
          <a:bodyPr wrap="square">
            <a:spAutoFit/>
          </a:bodyPr>
          <a:lstStyle/>
          <a:p>
            <a:pPr>
              <a:defRPr sz="1500" b="1">
                <a:solidFill>
                  <a:srgbClr val="10B981"/>
                </a:solidFill>
              </a:defRPr>
            </a:pPr>
            <a:r>
              <a:t>Completed &amp; Live in Current Build</a:t>
            </a:r>
          </a:p>
          <a:p>
            <a:pPr>
              <a:defRPr sz="1100" b="1">
                <a:solidFill>
                  <a:srgbClr val="0F172A"/>
                </a:solidFill>
              </a:defRPr>
            </a:pPr>
            <a:r>
              <a:t>✔ Full-Stack Integration:</a:t>
            </a:r>
          </a:p>
          <a:p>
            <a:pPr>
              <a:defRPr sz="1000">
                <a:solidFill>
                  <a:srgbClr val="64748B"/>
                </a:solidFill>
              </a:defRPr>
            </a:pPr>
            <a:r>
              <a:t>   React frontend, Express gateway, and FastAPI AI engine running simultaneously with zero CORS errors.</a:t>
            </a:r>
          </a:p>
          <a:p>
            <a:pPr>
              <a:defRPr sz="1100" b="1">
                <a:solidFill>
                  <a:srgbClr val="0F172A"/>
                </a:solidFill>
              </a:defRPr>
            </a:pPr>
            <a:r>
              <a:t>✔ Supabase Auth &amp; RLS:</a:t>
            </a:r>
          </a:p>
          <a:p>
            <a:pPr>
              <a:defRPr sz="1000">
                <a:solidFill>
                  <a:srgbClr val="64748B"/>
                </a:solidFill>
              </a:defRPr>
            </a:pPr>
            <a:r>
              <a:t>   Dual-role signup, session persistence with onAuthStateChange, and protected FastAPI endpoints.</a:t>
            </a:r>
          </a:p>
          <a:p>
            <a:pPr>
              <a:defRPr sz="1100" b="1">
                <a:solidFill>
                  <a:srgbClr val="0F172A"/>
                </a:solidFill>
              </a:defRPr>
            </a:pPr>
            <a:r>
              <a:t>✔ Live SBERT Recommender:</a:t>
            </a:r>
          </a:p>
          <a:p>
            <a:pPr>
              <a:defRPr sz="1000">
                <a:solidFill>
                  <a:srgbClr val="64748B"/>
                </a:solidFill>
              </a:defRPr>
            </a:pPr>
            <a:r>
              <a:t>   Campaign briefs generate instant ranked recommendations with real similarity and engagement scores.</a:t>
            </a:r>
          </a:p>
          <a:p>
            <a:pPr>
              <a:defRPr sz="1100" b="1">
                <a:solidFill>
                  <a:srgbClr val="0F172A"/>
                </a:solidFill>
              </a:defRPr>
            </a:pPr>
            <a:r>
              <a:t>✔ Creator Registration Page:</a:t>
            </a:r>
          </a:p>
          <a:p>
            <a:pPr>
              <a:defRPr sz="1000">
                <a:solidFill>
                  <a:srgbClr val="64748B"/>
                </a:solidFill>
              </a:defRPr>
            </a:pPr>
            <a:r>
              <a:t>   Creators register YouTube IDs/handles; background ingestion syncs channel into ml_data.channels in real time.</a:t>
            </a:r>
          </a:p>
          <a:p>
            <a:pPr>
              <a:defRPr sz="1100" b="1">
                <a:solidFill>
                  <a:srgbClr val="0F172A"/>
                </a:solidFill>
              </a:defRPr>
            </a:pPr>
            <a:r>
              <a:t>✔ Zero N+1 Public Email Sync:</a:t>
            </a:r>
          </a:p>
          <a:p>
            <a:pPr>
              <a:defRPr sz="1000">
                <a:solidFill>
                  <a:srgbClr val="64748B"/>
                </a:solidFill>
              </a:defRPr>
            </a:pPr>
            <a:r>
              <a:t>   Single batched query maps contact emails to recommendations.</a:t>
            </a:r>
          </a:p>
        </p:txBody>
      </p:sp>
      <p:sp>
        <p:nvSpPr>
          <p:cNvPr id="6" name="Rounded Rectangle 5"/>
          <p:cNvSpPr/>
          <p:nvPr/>
        </p:nvSpPr>
        <p:spPr>
          <a:xfrm>
            <a:off x="6217920" y="1463040"/>
            <a:ext cx="5212080" cy="4846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480560"/>
          </a:xfrm>
          <a:prstGeom prst="rect">
            <a:avLst/>
          </a:prstGeom>
          <a:noFill/>
        </p:spPr>
        <p:txBody>
          <a:bodyPr wrap="square">
            <a:spAutoFit/>
          </a:bodyPr>
          <a:lstStyle/>
          <a:p>
            <a:pPr>
              <a:defRPr sz="1500" b="1">
                <a:solidFill>
                  <a:srgbClr val="4F46E5"/>
                </a:solidFill>
              </a:defRPr>
            </a:pPr>
            <a:r>
              <a:t>Future Technical Roadmap (Semester 6)</a:t>
            </a:r>
          </a:p>
          <a:p>
            <a:pPr>
              <a:defRPr sz="1100" b="1">
                <a:solidFill>
                  <a:srgbClr val="0F172A"/>
                </a:solidFill>
              </a:defRPr>
            </a:pPr>
            <a:r>
              <a:t>→ Graph-Based Authority Analysis:</a:t>
            </a:r>
          </a:p>
          <a:p>
            <a:pPr>
              <a:defRPr sz="1000">
                <a:solidFill>
                  <a:srgbClr val="64748B"/>
                </a:solidFill>
              </a:defRPr>
            </a:pPr>
            <a:r>
              <a:t>   Construct creator co-mention networks and calculate PageRank and Betweenness Centrality for community hubs.</a:t>
            </a:r>
          </a:p>
          <a:p>
            <a:pPr>
              <a:defRPr sz="1100" b="1">
                <a:solidFill>
                  <a:srgbClr val="0F172A"/>
                </a:solidFill>
              </a:defRPr>
            </a:pPr>
            <a:r>
              <a:t>→ Google OAuth Channel Ownership:</a:t>
            </a:r>
          </a:p>
          <a:p>
            <a:pPr>
              <a:defRPr sz="1000">
                <a:solidFill>
                  <a:srgbClr val="64748B"/>
                </a:solidFill>
              </a:defRPr>
            </a:pPr>
            <a:r>
              <a:t>   Implement youtube.readonly OAuth scope (channels.list mine=true) to cryptographically verify channel ownership.</a:t>
            </a:r>
          </a:p>
          <a:p>
            <a:pPr>
              <a:defRPr sz="1100" b="1">
                <a:solidFill>
                  <a:srgbClr val="0F172A"/>
                </a:solidFill>
              </a:defRPr>
            </a:pPr>
            <a:r>
              <a:t>→ Cross-Platform Expansion:</a:t>
            </a:r>
          </a:p>
          <a:p>
            <a:pPr>
              <a:defRPr sz="1000">
                <a:solidFill>
                  <a:srgbClr val="64748B"/>
                </a:solidFill>
              </a:defRPr>
            </a:pPr>
            <a:r>
              <a:t>   Ingest Instagram Reels and TikTok creator metrics alongside YouTube Data API.</a:t>
            </a:r>
          </a:p>
          <a:p>
            <a:pPr>
              <a:defRPr sz="1100" b="1">
                <a:solidFill>
                  <a:srgbClr val="0F172A"/>
                </a:solidFill>
              </a:defRPr>
            </a:pPr>
            <a:r>
              <a:t>→ Offline Model Evaluation:</a:t>
            </a:r>
          </a:p>
          <a:p>
            <a:pPr>
              <a:defRPr sz="1000">
                <a:solidFill>
                  <a:srgbClr val="64748B"/>
                </a:solidFill>
              </a:defRPr>
            </a:pPr>
            <a:r>
              <a:t>   Benchmark ranking quality with NDCG@10 (Normalized Discounted Cumulative Gain) and Mean Reciprocal Rank (MRR).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1371600" y="1645920"/>
            <a:ext cx="9418320" cy="3657600"/>
          </a:xfrm>
          <a:prstGeom prst="rect">
            <a:avLst/>
          </a:prstGeom>
          <a:noFill/>
        </p:spPr>
        <p:txBody>
          <a:bodyPr wrap="square">
            <a:spAutoFit/>
          </a:bodyPr>
          <a:lstStyle/>
          <a:p>
            <a:pPr algn="ctr">
              <a:defRPr sz="4000" b="1">
                <a:solidFill>
                  <a:srgbClr val="FFFFFF"/>
                </a:solidFill>
              </a:defRPr>
            </a:pPr>
            <a:r>
              <a:t>InfluenceAI</a:t>
            </a:r>
          </a:p>
          <a:p>
            <a:pPr algn="ctr">
              <a:defRPr sz="1800">
                <a:solidFill>
                  <a:srgbClr val="4F46E5"/>
                </a:solidFill>
              </a:defRPr>
            </a:pPr>
            <a:r>
              <a:t>From Unfiltered Search to Intelligent, Explainable Recommendation</a:t>
            </a:r>
          </a:p>
          <a:p>
            <a:br/>
            <a:pPr algn="ctr">
              <a:defRPr sz="1500">
                <a:solidFill>
                  <a:srgbClr val="CBD5E1"/>
                </a:solidFill>
              </a:defRPr>
            </a:pPr>
            <a:r>
              <a:t>Thank you for your valuable guidance and attention.</a:t>
            </a:r>
            <a:br/>
            <a:r>
              <a:t>We welcome your questions and feedback.</a:t>
            </a:r>
          </a:p>
          <a:p>
            <a:br/>
            <a:pPr algn="ctr">
              <a:defRPr sz="1200">
                <a:solidFill>
                  <a:srgbClr val="94A3B8"/>
                </a:solidFill>
              </a:defRPr>
            </a:pPr>
            <a:r>
              <a:t>24DIT004 (Yashvi)  ·  24DIT014 (Shivansh)  ·  24DIT030 (Astha)</a:t>
            </a:r>
            <a:br/>
            <a:r>
              <a:t>CHARUSAT  ·  DEPSTAR  ·  IT Dept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